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3" r:id="rId7"/>
    <p:sldId id="257" r:id="rId8"/>
    <p:sldId id="264" r:id="rId9"/>
    <p:sldId id="265" r:id="rId10"/>
    <p:sldId id="266" r:id="rId11"/>
    <p:sldId id="267" r:id="rId12"/>
    <p:sldId id="269"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96" d="100"/>
          <a:sy n="96" d="100"/>
        </p:scale>
        <p:origin x="8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1" i="0" u="none" strike="noStrike" baseline="0">
                <a:latin typeface="Times New Roman" panose="02020603050405020304" pitchFamily="18" charset="0"/>
                <a:cs typeface="Times New Roman" panose="02020603050405020304" pitchFamily="18" charset="0"/>
              </a:rPr>
              <a:t>Branch Sentiment Comparison</a:t>
            </a:r>
            <a:endParaRPr lang="en-US" b="1">
              <a:latin typeface="Times New Roman" panose="02020603050405020304" pitchFamily="18" charset="0"/>
              <a:cs typeface="Times New Roman" panose="02020603050405020304" pitchFamily="18" charset="0"/>
            </a:endParaRPr>
          </a:p>
        </c:rich>
      </c:tx>
      <c:layout>
        <c:manualLayout>
          <c:xMode val="edge"/>
          <c:yMode val="edge"/>
          <c:x val="0.26681933508311462"/>
          <c:y val="4.629629629629629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8.0231709726485093E-2"/>
          <c:y val="0.10377526379360624"/>
          <c:w val="0.87289191122738918"/>
          <c:h val="0.77014650159064657"/>
        </c:manualLayout>
      </c:layout>
      <c:barChart>
        <c:barDir val="bar"/>
        <c:grouping val="clustered"/>
        <c:varyColors val="0"/>
        <c:ser>
          <c:idx val="0"/>
          <c:order val="0"/>
          <c:tx>
            <c:strRef>
              <c:f>Sheet1!$A$2</c:f>
              <c:strCache>
                <c:ptCount val="1"/>
                <c:pt idx="0">
                  <c:v>Haatso</c:v>
                </c:pt>
              </c:strCache>
            </c:strRef>
          </c:tx>
          <c:spPr>
            <a:solidFill>
              <a:schemeClr val="accent1"/>
            </a:solidFill>
            <a:ln>
              <a:noFill/>
            </a:ln>
            <a:effectLst/>
          </c:spPr>
          <c:invertIfNegative val="0"/>
          <c:cat>
            <c:strRef>
              <c:f>Sheet1!$B$1:$D$1</c:f>
              <c:strCache>
                <c:ptCount val="3"/>
                <c:pt idx="0">
                  <c:v>Positive</c:v>
                </c:pt>
                <c:pt idx="1">
                  <c:v>Neutral</c:v>
                </c:pt>
                <c:pt idx="2">
                  <c:v>Negative</c:v>
                </c:pt>
              </c:strCache>
            </c:strRef>
          </c:cat>
          <c:val>
            <c:numRef>
              <c:f>Sheet1!$B$2:$D$2</c:f>
              <c:numCache>
                <c:formatCode>0.00%</c:formatCode>
                <c:ptCount val="3"/>
                <c:pt idx="0">
                  <c:v>0.61199999999999999</c:v>
                </c:pt>
                <c:pt idx="1">
                  <c:v>0.17299999999999999</c:v>
                </c:pt>
                <c:pt idx="2">
                  <c:v>0.214</c:v>
                </c:pt>
              </c:numCache>
            </c:numRef>
          </c:val>
          <c:extLst>
            <c:ext xmlns:c16="http://schemas.microsoft.com/office/drawing/2014/chart" uri="{C3380CC4-5D6E-409C-BE32-E72D297353CC}">
              <c16:uniqueId val="{00000000-26C3-454E-A80F-D1BE8B39F458}"/>
            </c:ext>
          </c:extLst>
        </c:ser>
        <c:ser>
          <c:idx val="1"/>
          <c:order val="1"/>
          <c:tx>
            <c:strRef>
              <c:f>Sheet1!$A$3</c:f>
              <c:strCache>
                <c:ptCount val="1"/>
                <c:pt idx="0">
                  <c:v>Tema</c:v>
                </c:pt>
              </c:strCache>
            </c:strRef>
          </c:tx>
          <c:spPr>
            <a:solidFill>
              <a:schemeClr val="accent2"/>
            </a:solidFill>
            <a:ln>
              <a:noFill/>
            </a:ln>
            <a:effectLst/>
          </c:spPr>
          <c:invertIfNegative val="0"/>
          <c:cat>
            <c:strRef>
              <c:f>Sheet1!$B$1:$D$1</c:f>
              <c:strCache>
                <c:ptCount val="3"/>
                <c:pt idx="0">
                  <c:v>Positive</c:v>
                </c:pt>
                <c:pt idx="1">
                  <c:v>Neutral</c:v>
                </c:pt>
                <c:pt idx="2">
                  <c:v>Negative</c:v>
                </c:pt>
              </c:strCache>
            </c:strRef>
          </c:cat>
          <c:val>
            <c:numRef>
              <c:f>Sheet1!$B$3:$D$3</c:f>
              <c:numCache>
                <c:formatCode>0.00%</c:formatCode>
                <c:ptCount val="3"/>
                <c:pt idx="0">
                  <c:v>0.6</c:v>
                </c:pt>
                <c:pt idx="1">
                  <c:v>0.114</c:v>
                </c:pt>
                <c:pt idx="2">
                  <c:v>0.28599999999999998</c:v>
                </c:pt>
              </c:numCache>
            </c:numRef>
          </c:val>
          <c:extLst>
            <c:ext xmlns:c16="http://schemas.microsoft.com/office/drawing/2014/chart" uri="{C3380CC4-5D6E-409C-BE32-E72D297353CC}">
              <c16:uniqueId val="{00000001-26C3-454E-A80F-D1BE8B39F458}"/>
            </c:ext>
          </c:extLst>
        </c:ser>
        <c:dLbls>
          <c:showLegendKey val="0"/>
          <c:showVal val="0"/>
          <c:showCatName val="0"/>
          <c:showSerName val="0"/>
          <c:showPercent val="0"/>
          <c:showBubbleSize val="0"/>
        </c:dLbls>
        <c:gapWidth val="182"/>
        <c:axId val="1321189631"/>
        <c:axId val="1267454639"/>
      </c:barChart>
      <c:catAx>
        <c:axId val="132118963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67454639"/>
        <c:crosses val="autoZero"/>
        <c:auto val="1"/>
        <c:lblAlgn val="ctr"/>
        <c:lblOffset val="100"/>
        <c:noMultiLvlLbl val="0"/>
      </c:catAx>
      <c:valAx>
        <c:axId val="1267454639"/>
        <c:scaling>
          <c:orientation val="minMax"/>
        </c:scaling>
        <c:delete val="0"/>
        <c:axPos val="b"/>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118963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093E06-4F7D-4099-9783-E6B133879B51}" type="doc">
      <dgm:prSet loTypeId="urn:microsoft.com/office/officeart/2005/8/layout/vProcess5" loCatId="process" qsTypeId="urn:microsoft.com/office/officeart/2005/8/quickstyle/3d1" qsCatId="3D" csTypeId="urn:microsoft.com/office/officeart/2005/8/colors/accent1_2" csCatId="accent1" phldr="1"/>
      <dgm:spPr/>
      <dgm:t>
        <a:bodyPr/>
        <a:lstStyle/>
        <a:p>
          <a:endParaRPr lang="en-US"/>
        </a:p>
      </dgm:t>
    </dgm:pt>
    <dgm:pt modelId="{679BFA6E-B177-466C-8FCA-C03E083F8F6B}">
      <dgm:prSet phldrT="[Text]"/>
      <dgm:spPr/>
      <dgm:t>
        <a:bodyPr/>
        <a:lstStyle/>
        <a:p>
          <a:r>
            <a:rPr lang="en-US" dirty="0"/>
            <a:t>Customer Reviews</a:t>
          </a:r>
        </a:p>
      </dgm:t>
    </dgm:pt>
    <dgm:pt modelId="{ADCA071B-B85B-4595-8E11-AA389A34CB86}" type="parTrans" cxnId="{48C7A227-2746-47F5-AC95-B70A39792806}">
      <dgm:prSet/>
      <dgm:spPr/>
      <dgm:t>
        <a:bodyPr/>
        <a:lstStyle/>
        <a:p>
          <a:endParaRPr lang="en-US"/>
        </a:p>
      </dgm:t>
    </dgm:pt>
    <dgm:pt modelId="{91FD6431-D846-4F2C-8CBF-00C8F5A83728}" type="sibTrans" cxnId="{48C7A227-2746-47F5-AC95-B70A39792806}">
      <dgm:prSet/>
      <dgm:spPr/>
      <dgm:t>
        <a:bodyPr/>
        <a:lstStyle/>
        <a:p>
          <a:endParaRPr lang="en-US"/>
        </a:p>
      </dgm:t>
    </dgm:pt>
    <dgm:pt modelId="{49297A33-258E-4FAA-9421-25283ECF0951}">
      <dgm:prSet/>
      <dgm:spPr/>
      <dgm:t>
        <a:bodyPr/>
        <a:lstStyle/>
        <a:p>
          <a:r>
            <a:rPr lang="en-US" dirty="0"/>
            <a:t>Data Preparation</a:t>
          </a:r>
        </a:p>
      </dgm:t>
    </dgm:pt>
    <dgm:pt modelId="{3296A328-31DE-4208-85A4-678FE4F7AAE4}" type="parTrans" cxnId="{447BE775-AAE0-4581-AAF3-88C59F27030F}">
      <dgm:prSet/>
      <dgm:spPr/>
      <dgm:t>
        <a:bodyPr/>
        <a:lstStyle/>
        <a:p>
          <a:endParaRPr lang="en-US"/>
        </a:p>
      </dgm:t>
    </dgm:pt>
    <dgm:pt modelId="{DC212914-7470-4FCD-9D51-1C19533ED7D8}" type="sibTrans" cxnId="{447BE775-AAE0-4581-AAF3-88C59F27030F}">
      <dgm:prSet/>
      <dgm:spPr/>
      <dgm:t>
        <a:bodyPr/>
        <a:lstStyle/>
        <a:p>
          <a:endParaRPr lang="en-US"/>
        </a:p>
      </dgm:t>
    </dgm:pt>
    <dgm:pt modelId="{24AD244C-57DF-4517-9C16-BBD8C92B215A}">
      <dgm:prSet/>
      <dgm:spPr/>
      <dgm:t>
        <a:bodyPr/>
        <a:lstStyle/>
        <a:p>
          <a:r>
            <a:rPr lang="en-US" dirty="0"/>
            <a:t>Sentiment Analysis</a:t>
          </a:r>
        </a:p>
      </dgm:t>
    </dgm:pt>
    <dgm:pt modelId="{A6E7969E-5326-4E4A-B48E-28733B9289B1}" type="parTrans" cxnId="{09AA816D-1074-4294-92FC-F27C3CC21F8C}">
      <dgm:prSet/>
      <dgm:spPr/>
      <dgm:t>
        <a:bodyPr/>
        <a:lstStyle/>
        <a:p>
          <a:endParaRPr lang="en-US"/>
        </a:p>
      </dgm:t>
    </dgm:pt>
    <dgm:pt modelId="{8144859E-C16C-4787-9DE0-EC8C7AE1F517}" type="sibTrans" cxnId="{09AA816D-1074-4294-92FC-F27C3CC21F8C}">
      <dgm:prSet/>
      <dgm:spPr/>
      <dgm:t>
        <a:bodyPr/>
        <a:lstStyle/>
        <a:p>
          <a:endParaRPr lang="en-US"/>
        </a:p>
      </dgm:t>
    </dgm:pt>
    <dgm:pt modelId="{7F7865DB-0EBB-4DDD-B638-8A6D5591F306}">
      <dgm:prSet/>
      <dgm:spPr/>
      <dgm:t>
        <a:bodyPr/>
        <a:lstStyle/>
        <a:p>
          <a:r>
            <a:rPr lang="en-US" dirty="0"/>
            <a:t>Branch Performance Analysis</a:t>
          </a:r>
        </a:p>
      </dgm:t>
    </dgm:pt>
    <dgm:pt modelId="{A78DADD7-5F2A-4B81-83DA-0BD45A1F7C69}" type="parTrans" cxnId="{09E7C9EF-789E-40C0-8FBC-D5DC6C10C1B3}">
      <dgm:prSet/>
      <dgm:spPr/>
      <dgm:t>
        <a:bodyPr/>
        <a:lstStyle/>
        <a:p>
          <a:endParaRPr lang="en-US"/>
        </a:p>
      </dgm:t>
    </dgm:pt>
    <dgm:pt modelId="{741893CB-D0DC-4246-A77F-2B142F479AE3}" type="sibTrans" cxnId="{09E7C9EF-789E-40C0-8FBC-D5DC6C10C1B3}">
      <dgm:prSet/>
      <dgm:spPr/>
      <dgm:t>
        <a:bodyPr/>
        <a:lstStyle/>
        <a:p>
          <a:endParaRPr lang="en-US"/>
        </a:p>
      </dgm:t>
    </dgm:pt>
    <dgm:pt modelId="{6E2E0489-044F-485A-AA58-486A13FA2810}">
      <dgm:prSet/>
      <dgm:spPr/>
      <dgm:t>
        <a:bodyPr/>
        <a:lstStyle/>
        <a:p>
          <a:r>
            <a:rPr lang="en-US" dirty="0"/>
            <a:t>Business Recommendations</a:t>
          </a:r>
        </a:p>
      </dgm:t>
    </dgm:pt>
    <dgm:pt modelId="{D3333893-0690-4F7E-A7B0-D1323FC98295}" type="parTrans" cxnId="{F4E3ED25-EBC4-47A5-9C48-40A39E9B00D6}">
      <dgm:prSet/>
      <dgm:spPr/>
      <dgm:t>
        <a:bodyPr/>
        <a:lstStyle/>
        <a:p>
          <a:endParaRPr lang="en-US"/>
        </a:p>
      </dgm:t>
    </dgm:pt>
    <dgm:pt modelId="{98D2B0AD-5255-43DE-848D-BE61BA284365}" type="sibTrans" cxnId="{F4E3ED25-EBC4-47A5-9C48-40A39E9B00D6}">
      <dgm:prSet/>
      <dgm:spPr/>
      <dgm:t>
        <a:bodyPr/>
        <a:lstStyle/>
        <a:p>
          <a:endParaRPr lang="en-US"/>
        </a:p>
      </dgm:t>
    </dgm:pt>
    <dgm:pt modelId="{75B92207-B378-498A-B5AB-0A3E9AFF53C0}" type="pres">
      <dgm:prSet presAssocID="{A1093E06-4F7D-4099-9783-E6B133879B51}" presName="outerComposite" presStyleCnt="0">
        <dgm:presLayoutVars>
          <dgm:chMax val="5"/>
          <dgm:dir/>
          <dgm:resizeHandles val="exact"/>
        </dgm:presLayoutVars>
      </dgm:prSet>
      <dgm:spPr/>
    </dgm:pt>
    <dgm:pt modelId="{5E0DF77E-E1C1-4800-81C6-026AD1606320}" type="pres">
      <dgm:prSet presAssocID="{A1093E06-4F7D-4099-9783-E6B133879B51}" presName="dummyMaxCanvas" presStyleCnt="0">
        <dgm:presLayoutVars/>
      </dgm:prSet>
      <dgm:spPr/>
    </dgm:pt>
    <dgm:pt modelId="{7D201B62-A0EA-4A1C-B2B6-05EE3EABBBD1}" type="pres">
      <dgm:prSet presAssocID="{A1093E06-4F7D-4099-9783-E6B133879B51}" presName="FiveNodes_1" presStyleLbl="node1" presStyleIdx="0" presStyleCnt="5">
        <dgm:presLayoutVars>
          <dgm:bulletEnabled val="1"/>
        </dgm:presLayoutVars>
      </dgm:prSet>
      <dgm:spPr/>
    </dgm:pt>
    <dgm:pt modelId="{3240E6CF-6A27-46BB-B6F3-F8979EBCC848}" type="pres">
      <dgm:prSet presAssocID="{A1093E06-4F7D-4099-9783-E6B133879B51}" presName="FiveNodes_2" presStyleLbl="node1" presStyleIdx="1" presStyleCnt="5" custScaleX="102772" custScaleY="114009">
        <dgm:presLayoutVars>
          <dgm:bulletEnabled val="1"/>
        </dgm:presLayoutVars>
      </dgm:prSet>
      <dgm:spPr/>
    </dgm:pt>
    <dgm:pt modelId="{038F7D98-07C2-475E-8A7B-19A232A692DB}" type="pres">
      <dgm:prSet presAssocID="{A1093E06-4F7D-4099-9783-E6B133879B51}" presName="FiveNodes_3" presStyleLbl="node1" presStyleIdx="2" presStyleCnt="5">
        <dgm:presLayoutVars>
          <dgm:bulletEnabled val="1"/>
        </dgm:presLayoutVars>
      </dgm:prSet>
      <dgm:spPr/>
    </dgm:pt>
    <dgm:pt modelId="{0E27B02A-F5CE-4ACE-BB5B-CACA6C35C501}" type="pres">
      <dgm:prSet presAssocID="{A1093E06-4F7D-4099-9783-E6B133879B51}" presName="FiveNodes_4" presStyleLbl="node1" presStyleIdx="3" presStyleCnt="5">
        <dgm:presLayoutVars>
          <dgm:bulletEnabled val="1"/>
        </dgm:presLayoutVars>
      </dgm:prSet>
      <dgm:spPr/>
    </dgm:pt>
    <dgm:pt modelId="{72DF75A6-0071-447A-890A-7C4F666DEF4E}" type="pres">
      <dgm:prSet presAssocID="{A1093E06-4F7D-4099-9783-E6B133879B51}" presName="FiveNodes_5" presStyleLbl="node1" presStyleIdx="4" presStyleCnt="5">
        <dgm:presLayoutVars>
          <dgm:bulletEnabled val="1"/>
        </dgm:presLayoutVars>
      </dgm:prSet>
      <dgm:spPr/>
    </dgm:pt>
    <dgm:pt modelId="{BD28CF0A-DBC6-436F-944A-30CBB3CC6FEA}" type="pres">
      <dgm:prSet presAssocID="{A1093E06-4F7D-4099-9783-E6B133879B51}" presName="FiveConn_1-2" presStyleLbl="fgAccFollowNode1" presStyleIdx="0" presStyleCnt="4">
        <dgm:presLayoutVars>
          <dgm:bulletEnabled val="1"/>
        </dgm:presLayoutVars>
      </dgm:prSet>
      <dgm:spPr/>
    </dgm:pt>
    <dgm:pt modelId="{0EBB0923-34D4-4C58-B13F-07AD54141F89}" type="pres">
      <dgm:prSet presAssocID="{A1093E06-4F7D-4099-9783-E6B133879B51}" presName="FiveConn_2-3" presStyleLbl="fgAccFollowNode1" presStyleIdx="1" presStyleCnt="4">
        <dgm:presLayoutVars>
          <dgm:bulletEnabled val="1"/>
        </dgm:presLayoutVars>
      </dgm:prSet>
      <dgm:spPr/>
    </dgm:pt>
    <dgm:pt modelId="{16895B03-3298-484D-83D2-A4883D7E2C62}" type="pres">
      <dgm:prSet presAssocID="{A1093E06-4F7D-4099-9783-E6B133879B51}" presName="FiveConn_3-4" presStyleLbl="fgAccFollowNode1" presStyleIdx="2" presStyleCnt="4">
        <dgm:presLayoutVars>
          <dgm:bulletEnabled val="1"/>
        </dgm:presLayoutVars>
      </dgm:prSet>
      <dgm:spPr/>
    </dgm:pt>
    <dgm:pt modelId="{DFC04B4B-7C79-41B5-A150-7E7CADBE3ED5}" type="pres">
      <dgm:prSet presAssocID="{A1093E06-4F7D-4099-9783-E6B133879B51}" presName="FiveConn_4-5" presStyleLbl="fgAccFollowNode1" presStyleIdx="3" presStyleCnt="4">
        <dgm:presLayoutVars>
          <dgm:bulletEnabled val="1"/>
        </dgm:presLayoutVars>
      </dgm:prSet>
      <dgm:spPr/>
    </dgm:pt>
    <dgm:pt modelId="{7C140587-D2A6-4EE2-83D3-A53131CE8676}" type="pres">
      <dgm:prSet presAssocID="{A1093E06-4F7D-4099-9783-E6B133879B51}" presName="FiveNodes_1_text" presStyleLbl="node1" presStyleIdx="4" presStyleCnt="5">
        <dgm:presLayoutVars>
          <dgm:bulletEnabled val="1"/>
        </dgm:presLayoutVars>
      </dgm:prSet>
      <dgm:spPr/>
    </dgm:pt>
    <dgm:pt modelId="{A8347156-EBA0-4D7A-AE4D-C19A309A4340}" type="pres">
      <dgm:prSet presAssocID="{A1093E06-4F7D-4099-9783-E6B133879B51}" presName="FiveNodes_2_text" presStyleLbl="node1" presStyleIdx="4" presStyleCnt="5">
        <dgm:presLayoutVars>
          <dgm:bulletEnabled val="1"/>
        </dgm:presLayoutVars>
      </dgm:prSet>
      <dgm:spPr/>
    </dgm:pt>
    <dgm:pt modelId="{45EB3A30-CA72-4A6F-B0F2-51776C1FE97F}" type="pres">
      <dgm:prSet presAssocID="{A1093E06-4F7D-4099-9783-E6B133879B51}" presName="FiveNodes_3_text" presStyleLbl="node1" presStyleIdx="4" presStyleCnt="5">
        <dgm:presLayoutVars>
          <dgm:bulletEnabled val="1"/>
        </dgm:presLayoutVars>
      </dgm:prSet>
      <dgm:spPr/>
    </dgm:pt>
    <dgm:pt modelId="{1F180717-7FBE-4859-8A17-DF34CA6BD5B2}" type="pres">
      <dgm:prSet presAssocID="{A1093E06-4F7D-4099-9783-E6B133879B51}" presName="FiveNodes_4_text" presStyleLbl="node1" presStyleIdx="4" presStyleCnt="5">
        <dgm:presLayoutVars>
          <dgm:bulletEnabled val="1"/>
        </dgm:presLayoutVars>
      </dgm:prSet>
      <dgm:spPr/>
    </dgm:pt>
    <dgm:pt modelId="{DAD9BC29-D764-45A1-84A8-C73725E4651C}" type="pres">
      <dgm:prSet presAssocID="{A1093E06-4F7D-4099-9783-E6B133879B51}" presName="FiveNodes_5_text" presStyleLbl="node1" presStyleIdx="4" presStyleCnt="5">
        <dgm:presLayoutVars>
          <dgm:bulletEnabled val="1"/>
        </dgm:presLayoutVars>
      </dgm:prSet>
      <dgm:spPr/>
    </dgm:pt>
  </dgm:ptLst>
  <dgm:cxnLst>
    <dgm:cxn modelId="{11DC320C-BD39-49CA-837C-10B5596943B9}" type="presOf" srcId="{A1093E06-4F7D-4099-9783-E6B133879B51}" destId="{75B92207-B378-498A-B5AB-0A3E9AFF53C0}" srcOrd="0" destOrd="0" presId="urn:microsoft.com/office/officeart/2005/8/layout/vProcess5"/>
    <dgm:cxn modelId="{ADC6FC1A-0486-4D3C-A10A-643A5E20E26C}" type="presOf" srcId="{7F7865DB-0EBB-4DDD-B638-8A6D5591F306}" destId="{0E27B02A-F5CE-4ACE-BB5B-CACA6C35C501}" srcOrd="0" destOrd="0" presId="urn:microsoft.com/office/officeart/2005/8/layout/vProcess5"/>
    <dgm:cxn modelId="{F4E3ED25-EBC4-47A5-9C48-40A39E9B00D6}" srcId="{A1093E06-4F7D-4099-9783-E6B133879B51}" destId="{6E2E0489-044F-485A-AA58-486A13FA2810}" srcOrd="4" destOrd="0" parTransId="{D3333893-0690-4F7E-A7B0-D1323FC98295}" sibTransId="{98D2B0AD-5255-43DE-848D-BE61BA284365}"/>
    <dgm:cxn modelId="{48C7A227-2746-47F5-AC95-B70A39792806}" srcId="{A1093E06-4F7D-4099-9783-E6B133879B51}" destId="{679BFA6E-B177-466C-8FCA-C03E083F8F6B}" srcOrd="0" destOrd="0" parTransId="{ADCA071B-B85B-4595-8E11-AA389A34CB86}" sibTransId="{91FD6431-D846-4F2C-8CBF-00C8F5A83728}"/>
    <dgm:cxn modelId="{C01F052B-77D1-4306-B2AC-D0D194BC470A}" type="presOf" srcId="{49297A33-258E-4FAA-9421-25283ECF0951}" destId="{3240E6CF-6A27-46BB-B6F3-F8979EBCC848}" srcOrd="0" destOrd="0" presId="urn:microsoft.com/office/officeart/2005/8/layout/vProcess5"/>
    <dgm:cxn modelId="{6E157835-E691-405D-9E05-96994581C862}" type="presOf" srcId="{741893CB-D0DC-4246-A77F-2B142F479AE3}" destId="{DFC04B4B-7C79-41B5-A150-7E7CADBE3ED5}" srcOrd="0" destOrd="0" presId="urn:microsoft.com/office/officeart/2005/8/layout/vProcess5"/>
    <dgm:cxn modelId="{24C9E33D-4193-424E-848A-CD955A733E86}" type="presOf" srcId="{49297A33-258E-4FAA-9421-25283ECF0951}" destId="{A8347156-EBA0-4D7A-AE4D-C19A309A4340}" srcOrd="1" destOrd="0" presId="urn:microsoft.com/office/officeart/2005/8/layout/vProcess5"/>
    <dgm:cxn modelId="{3BBEE54B-2F92-4142-8161-0F52D10F6A77}" type="presOf" srcId="{679BFA6E-B177-466C-8FCA-C03E083F8F6B}" destId="{7C140587-D2A6-4EE2-83D3-A53131CE8676}" srcOrd="1" destOrd="0" presId="urn:microsoft.com/office/officeart/2005/8/layout/vProcess5"/>
    <dgm:cxn modelId="{09AA816D-1074-4294-92FC-F27C3CC21F8C}" srcId="{A1093E06-4F7D-4099-9783-E6B133879B51}" destId="{24AD244C-57DF-4517-9C16-BBD8C92B215A}" srcOrd="2" destOrd="0" parTransId="{A6E7969E-5326-4E4A-B48E-28733B9289B1}" sibTransId="{8144859E-C16C-4787-9DE0-EC8C7AE1F517}"/>
    <dgm:cxn modelId="{1AD63B53-8883-4DF0-8065-4FA207FB6FBF}" type="presOf" srcId="{24AD244C-57DF-4517-9C16-BBD8C92B215A}" destId="{45EB3A30-CA72-4A6F-B0F2-51776C1FE97F}" srcOrd="1" destOrd="0" presId="urn:microsoft.com/office/officeart/2005/8/layout/vProcess5"/>
    <dgm:cxn modelId="{447BE775-AAE0-4581-AAF3-88C59F27030F}" srcId="{A1093E06-4F7D-4099-9783-E6B133879B51}" destId="{49297A33-258E-4FAA-9421-25283ECF0951}" srcOrd="1" destOrd="0" parTransId="{3296A328-31DE-4208-85A4-678FE4F7AAE4}" sibTransId="{DC212914-7470-4FCD-9D51-1C19533ED7D8}"/>
    <dgm:cxn modelId="{EE568459-A992-4E4A-92D8-1CAA5A56D2E4}" type="presOf" srcId="{6E2E0489-044F-485A-AA58-486A13FA2810}" destId="{72DF75A6-0071-447A-890A-7C4F666DEF4E}" srcOrd="0" destOrd="0" presId="urn:microsoft.com/office/officeart/2005/8/layout/vProcess5"/>
    <dgm:cxn modelId="{BBF39593-95C3-40EE-AB26-BD50374E56DA}" type="presOf" srcId="{679BFA6E-B177-466C-8FCA-C03E083F8F6B}" destId="{7D201B62-A0EA-4A1C-B2B6-05EE3EABBBD1}" srcOrd="0" destOrd="0" presId="urn:microsoft.com/office/officeart/2005/8/layout/vProcess5"/>
    <dgm:cxn modelId="{12FEFCAD-1A84-458A-A748-AEC0FE6BD46D}" type="presOf" srcId="{8144859E-C16C-4787-9DE0-EC8C7AE1F517}" destId="{16895B03-3298-484D-83D2-A4883D7E2C62}" srcOrd="0" destOrd="0" presId="urn:microsoft.com/office/officeart/2005/8/layout/vProcess5"/>
    <dgm:cxn modelId="{AC2BADB1-E6E4-43ED-823E-29921313876C}" type="presOf" srcId="{6E2E0489-044F-485A-AA58-486A13FA2810}" destId="{DAD9BC29-D764-45A1-84A8-C73725E4651C}" srcOrd="1" destOrd="0" presId="urn:microsoft.com/office/officeart/2005/8/layout/vProcess5"/>
    <dgm:cxn modelId="{F4C7A1BB-F7B0-40F0-9F9B-8B52CAA4CD0E}" type="presOf" srcId="{DC212914-7470-4FCD-9D51-1C19533ED7D8}" destId="{0EBB0923-34D4-4C58-B13F-07AD54141F89}" srcOrd="0" destOrd="0" presId="urn:microsoft.com/office/officeart/2005/8/layout/vProcess5"/>
    <dgm:cxn modelId="{8DE9F5C8-131A-44B1-ABF4-C054D96BA121}" type="presOf" srcId="{24AD244C-57DF-4517-9C16-BBD8C92B215A}" destId="{038F7D98-07C2-475E-8A7B-19A232A692DB}" srcOrd="0" destOrd="0" presId="urn:microsoft.com/office/officeart/2005/8/layout/vProcess5"/>
    <dgm:cxn modelId="{547682E2-AACA-47F9-B8A9-9783DF84192B}" type="presOf" srcId="{91FD6431-D846-4F2C-8CBF-00C8F5A83728}" destId="{BD28CF0A-DBC6-436F-944A-30CBB3CC6FEA}" srcOrd="0" destOrd="0" presId="urn:microsoft.com/office/officeart/2005/8/layout/vProcess5"/>
    <dgm:cxn modelId="{E2428CE4-1A46-4DCA-8DA4-A57553436BF9}" type="presOf" srcId="{7F7865DB-0EBB-4DDD-B638-8A6D5591F306}" destId="{1F180717-7FBE-4859-8A17-DF34CA6BD5B2}" srcOrd="1" destOrd="0" presId="urn:microsoft.com/office/officeart/2005/8/layout/vProcess5"/>
    <dgm:cxn modelId="{09E7C9EF-789E-40C0-8FBC-D5DC6C10C1B3}" srcId="{A1093E06-4F7D-4099-9783-E6B133879B51}" destId="{7F7865DB-0EBB-4DDD-B638-8A6D5591F306}" srcOrd="3" destOrd="0" parTransId="{A78DADD7-5F2A-4B81-83DA-0BD45A1F7C69}" sibTransId="{741893CB-D0DC-4246-A77F-2B142F479AE3}"/>
    <dgm:cxn modelId="{5A59FE03-01A5-44E9-99DC-39B2CA6FD646}" type="presParOf" srcId="{75B92207-B378-498A-B5AB-0A3E9AFF53C0}" destId="{5E0DF77E-E1C1-4800-81C6-026AD1606320}" srcOrd="0" destOrd="0" presId="urn:microsoft.com/office/officeart/2005/8/layout/vProcess5"/>
    <dgm:cxn modelId="{72313D67-A985-4737-BA57-53D55B61428B}" type="presParOf" srcId="{75B92207-B378-498A-B5AB-0A3E9AFF53C0}" destId="{7D201B62-A0EA-4A1C-B2B6-05EE3EABBBD1}" srcOrd="1" destOrd="0" presId="urn:microsoft.com/office/officeart/2005/8/layout/vProcess5"/>
    <dgm:cxn modelId="{AFFA9DC1-8AA5-4916-9BB9-0D966911B8BA}" type="presParOf" srcId="{75B92207-B378-498A-B5AB-0A3E9AFF53C0}" destId="{3240E6CF-6A27-46BB-B6F3-F8979EBCC848}" srcOrd="2" destOrd="0" presId="urn:microsoft.com/office/officeart/2005/8/layout/vProcess5"/>
    <dgm:cxn modelId="{30BC4209-5785-499A-BEA5-CA2D36841D6E}" type="presParOf" srcId="{75B92207-B378-498A-B5AB-0A3E9AFF53C0}" destId="{038F7D98-07C2-475E-8A7B-19A232A692DB}" srcOrd="3" destOrd="0" presId="urn:microsoft.com/office/officeart/2005/8/layout/vProcess5"/>
    <dgm:cxn modelId="{E3476A9A-7D3C-4976-B2D4-4B444B45634A}" type="presParOf" srcId="{75B92207-B378-498A-B5AB-0A3E9AFF53C0}" destId="{0E27B02A-F5CE-4ACE-BB5B-CACA6C35C501}" srcOrd="4" destOrd="0" presId="urn:microsoft.com/office/officeart/2005/8/layout/vProcess5"/>
    <dgm:cxn modelId="{B11A1653-7C40-49CA-898F-E9815BD17D2B}" type="presParOf" srcId="{75B92207-B378-498A-B5AB-0A3E9AFF53C0}" destId="{72DF75A6-0071-447A-890A-7C4F666DEF4E}" srcOrd="5" destOrd="0" presId="urn:microsoft.com/office/officeart/2005/8/layout/vProcess5"/>
    <dgm:cxn modelId="{3402F249-27B6-4E9B-BED3-7BA0B272BC84}" type="presParOf" srcId="{75B92207-B378-498A-B5AB-0A3E9AFF53C0}" destId="{BD28CF0A-DBC6-436F-944A-30CBB3CC6FEA}" srcOrd="6" destOrd="0" presId="urn:microsoft.com/office/officeart/2005/8/layout/vProcess5"/>
    <dgm:cxn modelId="{6238CB76-CF30-43F2-AEB1-DF8845E38A7E}" type="presParOf" srcId="{75B92207-B378-498A-B5AB-0A3E9AFF53C0}" destId="{0EBB0923-34D4-4C58-B13F-07AD54141F89}" srcOrd="7" destOrd="0" presId="urn:microsoft.com/office/officeart/2005/8/layout/vProcess5"/>
    <dgm:cxn modelId="{88DEB024-5365-4E9C-BB33-B79B6C4B9F51}" type="presParOf" srcId="{75B92207-B378-498A-B5AB-0A3E9AFF53C0}" destId="{16895B03-3298-484D-83D2-A4883D7E2C62}" srcOrd="8" destOrd="0" presId="urn:microsoft.com/office/officeart/2005/8/layout/vProcess5"/>
    <dgm:cxn modelId="{433E4814-B691-44C1-B2FC-2436281C26A1}" type="presParOf" srcId="{75B92207-B378-498A-B5AB-0A3E9AFF53C0}" destId="{DFC04B4B-7C79-41B5-A150-7E7CADBE3ED5}" srcOrd="9" destOrd="0" presId="urn:microsoft.com/office/officeart/2005/8/layout/vProcess5"/>
    <dgm:cxn modelId="{19D83C3D-3EF1-47B1-9C1C-4E7BA5CEE575}" type="presParOf" srcId="{75B92207-B378-498A-B5AB-0A3E9AFF53C0}" destId="{7C140587-D2A6-4EE2-83D3-A53131CE8676}" srcOrd="10" destOrd="0" presId="urn:microsoft.com/office/officeart/2005/8/layout/vProcess5"/>
    <dgm:cxn modelId="{4C936C45-1081-4C19-8CE9-73D166954320}" type="presParOf" srcId="{75B92207-B378-498A-B5AB-0A3E9AFF53C0}" destId="{A8347156-EBA0-4D7A-AE4D-C19A309A4340}" srcOrd="11" destOrd="0" presId="urn:microsoft.com/office/officeart/2005/8/layout/vProcess5"/>
    <dgm:cxn modelId="{38A0F586-2EB3-4A1F-92E7-64D7324A917F}" type="presParOf" srcId="{75B92207-B378-498A-B5AB-0A3E9AFF53C0}" destId="{45EB3A30-CA72-4A6F-B0F2-51776C1FE97F}" srcOrd="12" destOrd="0" presId="urn:microsoft.com/office/officeart/2005/8/layout/vProcess5"/>
    <dgm:cxn modelId="{7EE71EF5-F196-44D6-A131-8360D6BECF59}" type="presParOf" srcId="{75B92207-B378-498A-B5AB-0A3E9AFF53C0}" destId="{1F180717-7FBE-4859-8A17-DF34CA6BD5B2}" srcOrd="13" destOrd="0" presId="urn:microsoft.com/office/officeart/2005/8/layout/vProcess5"/>
    <dgm:cxn modelId="{731BA841-C048-499D-ADF5-0AC5ADFB5AB5}" type="presParOf" srcId="{75B92207-B378-498A-B5AB-0A3E9AFF53C0}" destId="{DAD9BC29-D764-45A1-84A8-C73725E4651C}"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201B62-A0EA-4A1C-B2B6-05EE3EABBBD1}">
      <dsp:nvSpPr>
        <dsp:cNvPr id="0" name=""/>
        <dsp:cNvSpPr/>
      </dsp:nvSpPr>
      <dsp:spPr>
        <a:xfrm>
          <a:off x="0" y="0"/>
          <a:ext cx="7683742" cy="52096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Customer Reviews</a:t>
          </a:r>
        </a:p>
      </dsp:txBody>
      <dsp:txXfrm>
        <a:off x="15259" y="15259"/>
        <a:ext cx="7060622" cy="490451"/>
      </dsp:txXfrm>
    </dsp:sp>
    <dsp:sp modelId="{3240E6CF-6A27-46BB-B6F3-F8979EBCC848}">
      <dsp:nvSpPr>
        <dsp:cNvPr id="0" name=""/>
        <dsp:cNvSpPr/>
      </dsp:nvSpPr>
      <dsp:spPr>
        <a:xfrm>
          <a:off x="467289" y="556835"/>
          <a:ext cx="7896736" cy="593952"/>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Data Preparation</a:t>
          </a:r>
        </a:p>
      </dsp:txBody>
      <dsp:txXfrm>
        <a:off x="484685" y="574231"/>
        <a:ext cx="6924235" cy="559160"/>
      </dsp:txXfrm>
    </dsp:sp>
    <dsp:sp modelId="{038F7D98-07C2-475E-8A7B-19A232A692DB}">
      <dsp:nvSpPr>
        <dsp:cNvPr id="0" name=""/>
        <dsp:cNvSpPr/>
      </dsp:nvSpPr>
      <dsp:spPr>
        <a:xfrm>
          <a:off x="1147572" y="1186652"/>
          <a:ext cx="7683742" cy="52096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Sentiment Analysis</a:t>
          </a:r>
        </a:p>
      </dsp:txBody>
      <dsp:txXfrm>
        <a:off x="1162831" y="1201911"/>
        <a:ext cx="6740808" cy="490451"/>
      </dsp:txXfrm>
    </dsp:sp>
    <dsp:sp modelId="{0E27B02A-F5CE-4ACE-BB5B-CACA6C35C501}">
      <dsp:nvSpPr>
        <dsp:cNvPr id="0" name=""/>
        <dsp:cNvSpPr/>
      </dsp:nvSpPr>
      <dsp:spPr>
        <a:xfrm>
          <a:off x="1721358" y="1779979"/>
          <a:ext cx="7683742" cy="52096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Branch Performance Analysis</a:t>
          </a:r>
        </a:p>
      </dsp:txBody>
      <dsp:txXfrm>
        <a:off x="1736617" y="1795238"/>
        <a:ext cx="6740808" cy="490451"/>
      </dsp:txXfrm>
    </dsp:sp>
    <dsp:sp modelId="{72DF75A6-0071-447A-890A-7C4F666DEF4E}">
      <dsp:nvSpPr>
        <dsp:cNvPr id="0" name=""/>
        <dsp:cNvSpPr/>
      </dsp:nvSpPr>
      <dsp:spPr>
        <a:xfrm>
          <a:off x="2295144" y="2373305"/>
          <a:ext cx="7683742" cy="52096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Business Recommendations</a:t>
          </a:r>
        </a:p>
      </dsp:txBody>
      <dsp:txXfrm>
        <a:off x="2310403" y="2388564"/>
        <a:ext cx="6740808" cy="490451"/>
      </dsp:txXfrm>
    </dsp:sp>
    <dsp:sp modelId="{BD28CF0A-DBC6-436F-944A-30CBB3CC6FEA}">
      <dsp:nvSpPr>
        <dsp:cNvPr id="0" name=""/>
        <dsp:cNvSpPr/>
      </dsp:nvSpPr>
      <dsp:spPr>
        <a:xfrm>
          <a:off x="7345112" y="380597"/>
          <a:ext cx="338630" cy="338630"/>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7421304" y="380597"/>
        <a:ext cx="186246" cy="254819"/>
      </dsp:txXfrm>
    </dsp:sp>
    <dsp:sp modelId="{0EBB0923-34D4-4C58-B13F-07AD54141F89}">
      <dsp:nvSpPr>
        <dsp:cNvPr id="0" name=""/>
        <dsp:cNvSpPr/>
      </dsp:nvSpPr>
      <dsp:spPr>
        <a:xfrm>
          <a:off x="7918898" y="973923"/>
          <a:ext cx="338630" cy="338630"/>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7995090" y="973923"/>
        <a:ext cx="186246" cy="254819"/>
      </dsp:txXfrm>
    </dsp:sp>
    <dsp:sp modelId="{16895B03-3298-484D-83D2-A4883D7E2C62}">
      <dsp:nvSpPr>
        <dsp:cNvPr id="0" name=""/>
        <dsp:cNvSpPr/>
      </dsp:nvSpPr>
      <dsp:spPr>
        <a:xfrm>
          <a:off x="8492684" y="1558567"/>
          <a:ext cx="338630" cy="338630"/>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8568876" y="1558567"/>
        <a:ext cx="186246" cy="254819"/>
      </dsp:txXfrm>
    </dsp:sp>
    <dsp:sp modelId="{DFC04B4B-7C79-41B5-A150-7E7CADBE3ED5}">
      <dsp:nvSpPr>
        <dsp:cNvPr id="0" name=""/>
        <dsp:cNvSpPr/>
      </dsp:nvSpPr>
      <dsp:spPr>
        <a:xfrm>
          <a:off x="9066470" y="2157682"/>
          <a:ext cx="338630" cy="338630"/>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9142662" y="2157682"/>
        <a:ext cx="186246" cy="254819"/>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690E1-0756-41E9-A8D3-C3800389A2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67AFCA-3602-4547-A29E-C392058A18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EF3A80-0EA0-4619-802E-46893FCC340F}"/>
              </a:ext>
            </a:extLst>
          </p:cNvPr>
          <p:cNvSpPr>
            <a:spLocks noGrp="1"/>
          </p:cNvSpPr>
          <p:nvPr>
            <p:ph type="dt" sz="half" idx="10"/>
          </p:nvPr>
        </p:nvSpPr>
        <p:spPr/>
        <p:txBody>
          <a:bodyPr/>
          <a:lstStyle/>
          <a:p>
            <a:fld id="{65FC2DE8-22F5-43EC-92BE-83B306099E60}" type="datetimeFigureOut">
              <a:rPr lang="en-US" smtClean="0"/>
              <a:t>6/3/2026</a:t>
            </a:fld>
            <a:endParaRPr lang="en-US"/>
          </a:p>
        </p:txBody>
      </p:sp>
      <p:sp>
        <p:nvSpPr>
          <p:cNvPr id="5" name="Footer Placeholder 4">
            <a:extLst>
              <a:ext uri="{FF2B5EF4-FFF2-40B4-BE49-F238E27FC236}">
                <a16:creationId xmlns:a16="http://schemas.microsoft.com/office/drawing/2014/main" id="{7494DE52-86AA-403D-ADFF-27432326EB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395CD9-1C1C-44EC-8EA7-3B10F5F45DCE}"/>
              </a:ext>
            </a:extLst>
          </p:cNvPr>
          <p:cNvSpPr>
            <a:spLocks noGrp="1"/>
          </p:cNvSpPr>
          <p:nvPr>
            <p:ph type="sldNum" sz="quarter" idx="12"/>
          </p:nvPr>
        </p:nvSpPr>
        <p:spPr/>
        <p:txBody>
          <a:bodyPr/>
          <a:lstStyle/>
          <a:p>
            <a:fld id="{9CB0A5DB-19A8-4AE1-A01F-83777778566A}" type="slidenum">
              <a:rPr lang="en-US" smtClean="0"/>
              <a:t>‹#›</a:t>
            </a:fld>
            <a:endParaRPr lang="en-US"/>
          </a:p>
        </p:txBody>
      </p:sp>
    </p:spTree>
    <p:extLst>
      <p:ext uri="{BB962C8B-B14F-4D97-AF65-F5344CB8AC3E}">
        <p14:creationId xmlns:p14="http://schemas.microsoft.com/office/powerpoint/2010/main" val="2627565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5C1C7-4B99-4507-BFBF-BBC57EA838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BAE0DD-8A2F-4B18-9C5D-C1D0F7FDB77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D754F2-6193-4B09-9E20-36471DECFEF4}"/>
              </a:ext>
            </a:extLst>
          </p:cNvPr>
          <p:cNvSpPr>
            <a:spLocks noGrp="1"/>
          </p:cNvSpPr>
          <p:nvPr>
            <p:ph type="dt" sz="half" idx="10"/>
          </p:nvPr>
        </p:nvSpPr>
        <p:spPr/>
        <p:txBody>
          <a:bodyPr/>
          <a:lstStyle/>
          <a:p>
            <a:fld id="{65FC2DE8-22F5-43EC-92BE-83B306099E60}" type="datetimeFigureOut">
              <a:rPr lang="en-US" smtClean="0"/>
              <a:t>6/3/2026</a:t>
            </a:fld>
            <a:endParaRPr lang="en-US"/>
          </a:p>
        </p:txBody>
      </p:sp>
      <p:sp>
        <p:nvSpPr>
          <p:cNvPr id="5" name="Footer Placeholder 4">
            <a:extLst>
              <a:ext uri="{FF2B5EF4-FFF2-40B4-BE49-F238E27FC236}">
                <a16:creationId xmlns:a16="http://schemas.microsoft.com/office/drawing/2014/main" id="{7327A5B1-462E-461C-B496-82DE9236A9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28D405-FA46-4EF8-B8CA-2C4A241D9164}"/>
              </a:ext>
            </a:extLst>
          </p:cNvPr>
          <p:cNvSpPr>
            <a:spLocks noGrp="1"/>
          </p:cNvSpPr>
          <p:nvPr>
            <p:ph type="sldNum" sz="quarter" idx="12"/>
          </p:nvPr>
        </p:nvSpPr>
        <p:spPr/>
        <p:txBody>
          <a:bodyPr/>
          <a:lstStyle/>
          <a:p>
            <a:fld id="{9CB0A5DB-19A8-4AE1-A01F-83777778566A}" type="slidenum">
              <a:rPr lang="en-US" smtClean="0"/>
              <a:t>‹#›</a:t>
            </a:fld>
            <a:endParaRPr lang="en-US"/>
          </a:p>
        </p:txBody>
      </p:sp>
    </p:spTree>
    <p:extLst>
      <p:ext uri="{BB962C8B-B14F-4D97-AF65-F5344CB8AC3E}">
        <p14:creationId xmlns:p14="http://schemas.microsoft.com/office/powerpoint/2010/main" val="155177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5A7BB-3051-4A1E-B97E-B3D2BB6756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C02D14F-B1FC-4232-8155-8EF2688A2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CEA2F34-DAD8-4F16-A052-4E2611C89BC8}"/>
              </a:ext>
            </a:extLst>
          </p:cNvPr>
          <p:cNvSpPr>
            <a:spLocks noGrp="1"/>
          </p:cNvSpPr>
          <p:nvPr>
            <p:ph type="dt" sz="half" idx="10"/>
          </p:nvPr>
        </p:nvSpPr>
        <p:spPr/>
        <p:txBody>
          <a:bodyPr/>
          <a:lstStyle/>
          <a:p>
            <a:fld id="{65FC2DE8-22F5-43EC-92BE-83B306099E60}" type="datetimeFigureOut">
              <a:rPr lang="en-US" smtClean="0"/>
              <a:t>6/3/2026</a:t>
            </a:fld>
            <a:endParaRPr lang="en-US"/>
          </a:p>
        </p:txBody>
      </p:sp>
      <p:sp>
        <p:nvSpPr>
          <p:cNvPr id="5" name="Footer Placeholder 4">
            <a:extLst>
              <a:ext uri="{FF2B5EF4-FFF2-40B4-BE49-F238E27FC236}">
                <a16:creationId xmlns:a16="http://schemas.microsoft.com/office/drawing/2014/main" id="{ACA6E02E-38E7-4E55-B323-3777D07B0B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EE4EB-E503-4106-9AD9-50659339D3AB}"/>
              </a:ext>
            </a:extLst>
          </p:cNvPr>
          <p:cNvSpPr>
            <a:spLocks noGrp="1"/>
          </p:cNvSpPr>
          <p:nvPr>
            <p:ph type="sldNum" sz="quarter" idx="12"/>
          </p:nvPr>
        </p:nvSpPr>
        <p:spPr/>
        <p:txBody>
          <a:bodyPr/>
          <a:lstStyle/>
          <a:p>
            <a:fld id="{9CB0A5DB-19A8-4AE1-A01F-83777778566A}" type="slidenum">
              <a:rPr lang="en-US" smtClean="0"/>
              <a:t>‹#›</a:t>
            </a:fld>
            <a:endParaRPr lang="en-US"/>
          </a:p>
        </p:txBody>
      </p:sp>
    </p:spTree>
    <p:extLst>
      <p:ext uri="{BB962C8B-B14F-4D97-AF65-F5344CB8AC3E}">
        <p14:creationId xmlns:p14="http://schemas.microsoft.com/office/powerpoint/2010/main" val="3011403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1617B-2DFC-46D5-B1C3-EA04229330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09EEB3-A37F-4EE6-B63B-D2043B0098D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528603-AD65-4D93-B721-D538F2D7772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4B77E5-2ADF-4268-AC2A-792211D2EA7A}"/>
              </a:ext>
            </a:extLst>
          </p:cNvPr>
          <p:cNvSpPr>
            <a:spLocks noGrp="1"/>
          </p:cNvSpPr>
          <p:nvPr>
            <p:ph type="dt" sz="half" idx="10"/>
          </p:nvPr>
        </p:nvSpPr>
        <p:spPr/>
        <p:txBody>
          <a:bodyPr/>
          <a:lstStyle/>
          <a:p>
            <a:fld id="{65FC2DE8-22F5-43EC-92BE-83B306099E60}" type="datetimeFigureOut">
              <a:rPr lang="en-US" smtClean="0"/>
              <a:t>6/3/2026</a:t>
            </a:fld>
            <a:endParaRPr lang="en-US"/>
          </a:p>
        </p:txBody>
      </p:sp>
      <p:sp>
        <p:nvSpPr>
          <p:cNvPr id="6" name="Footer Placeholder 5">
            <a:extLst>
              <a:ext uri="{FF2B5EF4-FFF2-40B4-BE49-F238E27FC236}">
                <a16:creationId xmlns:a16="http://schemas.microsoft.com/office/drawing/2014/main" id="{D5015231-396D-4D45-AB64-1328F19AB2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A791EE-71F3-4516-9139-B2741511A8CF}"/>
              </a:ext>
            </a:extLst>
          </p:cNvPr>
          <p:cNvSpPr>
            <a:spLocks noGrp="1"/>
          </p:cNvSpPr>
          <p:nvPr>
            <p:ph type="sldNum" sz="quarter" idx="12"/>
          </p:nvPr>
        </p:nvSpPr>
        <p:spPr/>
        <p:txBody>
          <a:bodyPr/>
          <a:lstStyle/>
          <a:p>
            <a:fld id="{9CB0A5DB-19A8-4AE1-A01F-83777778566A}" type="slidenum">
              <a:rPr lang="en-US" smtClean="0"/>
              <a:t>‹#›</a:t>
            </a:fld>
            <a:endParaRPr lang="en-US"/>
          </a:p>
        </p:txBody>
      </p:sp>
    </p:spTree>
    <p:extLst>
      <p:ext uri="{BB962C8B-B14F-4D97-AF65-F5344CB8AC3E}">
        <p14:creationId xmlns:p14="http://schemas.microsoft.com/office/powerpoint/2010/main" val="40645298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82BBB-17C1-4D3E-8229-8408E85B071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7317A5F-2040-471F-AD0F-96B6AC501E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0225C90-0016-4A82-90EC-E99900A8C6D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1C892E0-32C9-4DB4-99C5-C268A3EFE7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F503916-EAB1-42BB-B5D8-6FEC85B1452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9DA653-8443-4C8F-BF40-2F58ACB99148}"/>
              </a:ext>
            </a:extLst>
          </p:cNvPr>
          <p:cNvSpPr>
            <a:spLocks noGrp="1"/>
          </p:cNvSpPr>
          <p:nvPr>
            <p:ph type="dt" sz="half" idx="10"/>
          </p:nvPr>
        </p:nvSpPr>
        <p:spPr/>
        <p:txBody>
          <a:bodyPr/>
          <a:lstStyle/>
          <a:p>
            <a:fld id="{65FC2DE8-22F5-43EC-92BE-83B306099E60}" type="datetimeFigureOut">
              <a:rPr lang="en-US" smtClean="0"/>
              <a:t>6/3/2026</a:t>
            </a:fld>
            <a:endParaRPr lang="en-US"/>
          </a:p>
        </p:txBody>
      </p:sp>
      <p:sp>
        <p:nvSpPr>
          <p:cNvPr id="8" name="Footer Placeholder 7">
            <a:extLst>
              <a:ext uri="{FF2B5EF4-FFF2-40B4-BE49-F238E27FC236}">
                <a16:creationId xmlns:a16="http://schemas.microsoft.com/office/drawing/2014/main" id="{52FBEE6D-1EC8-4364-B0AA-C0E42A1F82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E4ACADC-C11D-4132-8046-B03E9CD82971}"/>
              </a:ext>
            </a:extLst>
          </p:cNvPr>
          <p:cNvSpPr>
            <a:spLocks noGrp="1"/>
          </p:cNvSpPr>
          <p:nvPr>
            <p:ph type="sldNum" sz="quarter" idx="12"/>
          </p:nvPr>
        </p:nvSpPr>
        <p:spPr/>
        <p:txBody>
          <a:bodyPr/>
          <a:lstStyle/>
          <a:p>
            <a:fld id="{9CB0A5DB-19A8-4AE1-A01F-83777778566A}" type="slidenum">
              <a:rPr lang="en-US" smtClean="0"/>
              <a:t>‹#›</a:t>
            </a:fld>
            <a:endParaRPr lang="en-US"/>
          </a:p>
        </p:txBody>
      </p:sp>
    </p:spTree>
    <p:extLst>
      <p:ext uri="{BB962C8B-B14F-4D97-AF65-F5344CB8AC3E}">
        <p14:creationId xmlns:p14="http://schemas.microsoft.com/office/powerpoint/2010/main" val="19378314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AFEA5-1B94-4476-BE5B-76F75D2E0DA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68B17EE-DF57-40EE-9460-8D6938A6E890}"/>
              </a:ext>
            </a:extLst>
          </p:cNvPr>
          <p:cNvSpPr>
            <a:spLocks noGrp="1"/>
          </p:cNvSpPr>
          <p:nvPr>
            <p:ph type="dt" sz="half" idx="10"/>
          </p:nvPr>
        </p:nvSpPr>
        <p:spPr/>
        <p:txBody>
          <a:bodyPr/>
          <a:lstStyle/>
          <a:p>
            <a:fld id="{65FC2DE8-22F5-43EC-92BE-83B306099E60}" type="datetimeFigureOut">
              <a:rPr lang="en-US" smtClean="0"/>
              <a:t>6/3/2026</a:t>
            </a:fld>
            <a:endParaRPr lang="en-US"/>
          </a:p>
        </p:txBody>
      </p:sp>
      <p:sp>
        <p:nvSpPr>
          <p:cNvPr id="4" name="Footer Placeholder 3">
            <a:extLst>
              <a:ext uri="{FF2B5EF4-FFF2-40B4-BE49-F238E27FC236}">
                <a16:creationId xmlns:a16="http://schemas.microsoft.com/office/drawing/2014/main" id="{EE1CFF82-0771-408B-AE62-4E07A8E7F24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1A5035-13C5-46A7-B209-548FDE0D5BAE}"/>
              </a:ext>
            </a:extLst>
          </p:cNvPr>
          <p:cNvSpPr>
            <a:spLocks noGrp="1"/>
          </p:cNvSpPr>
          <p:nvPr>
            <p:ph type="sldNum" sz="quarter" idx="12"/>
          </p:nvPr>
        </p:nvSpPr>
        <p:spPr/>
        <p:txBody>
          <a:bodyPr/>
          <a:lstStyle/>
          <a:p>
            <a:fld id="{9CB0A5DB-19A8-4AE1-A01F-83777778566A}" type="slidenum">
              <a:rPr lang="en-US" smtClean="0"/>
              <a:t>‹#›</a:t>
            </a:fld>
            <a:endParaRPr lang="en-US"/>
          </a:p>
        </p:txBody>
      </p:sp>
    </p:spTree>
    <p:extLst>
      <p:ext uri="{BB962C8B-B14F-4D97-AF65-F5344CB8AC3E}">
        <p14:creationId xmlns:p14="http://schemas.microsoft.com/office/powerpoint/2010/main" val="3007522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BF5ED5-55BC-4946-897C-93A29EE5BC1C}"/>
              </a:ext>
            </a:extLst>
          </p:cNvPr>
          <p:cNvSpPr>
            <a:spLocks noGrp="1"/>
          </p:cNvSpPr>
          <p:nvPr>
            <p:ph type="dt" sz="half" idx="10"/>
          </p:nvPr>
        </p:nvSpPr>
        <p:spPr/>
        <p:txBody>
          <a:bodyPr/>
          <a:lstStyle/>
          <a:p>
            <a:fld id="{65FC2DE8-22F5-43EC-92BE-83B306099E60}" type="datetimeFigureOut">
              <a:rPr lang="en-US" smtClean="0"/>
              <a:t>6/3/2026</a:t>
            </a:fld>
            <a:endParaRPr lang="en-US"/>
          </a:p>
        </p:txBody>
      </p:sp>
      <p:sp>
        <p:nvSpPr>
          <p:cNvPr id="3" name="Footer Placeholder 2">
            <a:extLst>
              <a:ext uri="{FF2B5EF4-FFF2-40B4-BE49-F238E27FC236}">
                <a16:creationId xmlns:a16="http://schemas.microsoft.com/office/drawing/2014/main" id="{E044BA4C-BC7E-4FEE-AF6C-395D824B592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B5BA397-CBD8-44E8-A673-E8812BE95986}"/>
              </a:ext>
            </a:extLst>
          </p:cNvPr>
          <p:cNvSpPr>
            <a:spLocks noGrp="1"/>
          </p:cNvSpPr>
          <p:nvPr>
            <p:ph type="sldNum" sz="quarter" idx="12"/>
          </p:nvPr>
        </p:nvSpPr>
        <p:spPr/>
        <p:txBody>
          <a:bodyPr/>
          <a:lstStyle/>
          <a:p>
            <a:fld id="{9CB0A5DB-19A8-4AE1-A01F-83777778566A}" type="slidenum">
              <a:rPr lang="en-US" smtClean="0"/>
              <a:t>‹#›</a:t>
            </a:fld>
            <a:endParaRPr lang="en-US"/>
          </a:p>
        </p:txBody>
      </p:sp>
    </p:spTree>
    <p:extLst>
      <p:ext uri="{BB962C8B-B14F-4D97-AF65-F5344CB8AC3E}">
        <p14:creationId xmlns:p14="http://schemas.microsoft.com/office/powerpoint/2010/main" val="3677223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6EA95-461D-47D8-A2CD-362D543D93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073F7DF-79F2-4F99-853B-F562A927ED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6EFFE9-4570-4D3B-B39E-68E78CC544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78CB8FD-08A1-4C9E-85D5-4FDCBF4D9168}"/>
              </a:ext>
            </a:extLst>
          </p:cNvPr>
          <p:cNvSpPr>
            <a:spLocks noGrp="1"/>
          </p:cNvSpPr>
          <p:nvPr>
            <p:ph type="dt" sz="half" idx="10"/>
          </p:nvPr>
        </p:nvSpPr>
        <p:spPr/>
        <p:txBody>
          <a:bodyPr/>
          <a:lstStyle/>
          <a:p>
            <a:fld id="{65FC2DE8-22F5-43EC-92BE-83B306099E60}" type="datetimeFigureOut">
              <a:rPr lang="en-US" smtClean="0"/>
              <a:t>6/3/2026</a:t>
            </a:fld>
            <a:endParaRPr lang="en-US"/>
          </a:p>
        </p:txBody>
      </p:sp>
      <p:sp>
        <p:nvSpPr>
          <p:cNvPr id="6" name="Footer Placeholder 5">
            <a:extLst>
              <a:ext uri="{FF2B5EF4-FFF2-40B4-BE49-F238E27FC236}">
                <a16:creationId xmlns:a16="http://schemas.microsoft.com/office/drawing/2014/main" id="{092DC39C-793B-4968-89F7-39CC5718AA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D69FE0-762C-45BF-9F45-C2443042B55E}"/>
              </a:ext>
            </a:extLst>
          </p:cNvPr>
          <p:cNvSpPr>
            <a:spLocks noGrp="1"/>
          </p:cNvSpPr>
          <p:nvPr>
            <p:ph type="sldNum" sz="quarter" idx="12"/>
          </p:nvPr>
        </p:nvSpPr>
        <p:spPr/>
        <p:txBody>
          <a:bodyPr/>
          <a:lstStyle/>
          <a:p>
            <a:fld id="{9CB0A5DB-19A8-4AE1-A01F-83777778566A}" type="slidenum">
              <a:rPr lang="en-US" smtClean="0"/>
              <a:t>‹#›</a:t>
            </a:fld>
            <a:endParaRPr lang="en-US"/>
          </a:p>
        </p:txBody>
      </p:sp>
    </p:spTree>
    <p:extLst>
      <p:ext uri="{BB962C8B-B14F-4D97-AF65-F5344CB8AC3E}">
        <p14:creationId xmlns:p14="http://schemas.microsoft.com/office/powerpoint/2010/main" val="2941704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A8A88-6413-48EF-87FA-B4EAA65FFE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A04824-9F12-4590-81C4-CFFB02C527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888E20-FAF2-498C-B13C-60CBA7FCF6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0A4E3FB-A94A-40E0-85A3-46EDDCF352AD}"/>
              </a:ext>
            </a:extLst>
          </p:cNvPr>
          <p:cNvSpPr>
            <a:spLocks noGrp="1"/>
          </p:cNvSpPr>
          <p:nvPr>
            <p:ph type="dt" sz="half" idx="10"/>
          </p:nvPr>
        </p:nvSpPr>
        <p:spPr/>
        <p:txBody>
          <a:bodyPr/>
          <a:lstStyle/>
          <a:p>
            <a:fld id="{65FC2DE8-22F5-43EC-92BE-83B306099E60}" type="datetimeFigureOut">
              <a:rPr lang="en-US" smtClean="0"/>
              <a:t>6/3/2026</a:t>
            </a:fld>
            <a:endParaRPr lang="en-US"/>
          </a:p>
        </p:txBody>
      </p:sp>
      <p:sp>
        <p:nvSpPr>
          <p:cNvPr id="6" name="Footer Placeholder 5">
            <a:extLst>
              <a:ext uri="{FF2B5EF4-FFF2-40B4-BE49-F238E27FC236}">
                <a16:creationId xmlns:a16="http://schemas.microsoft.com/office/drawing/2014/main" id="{7D40B591-A586-4491-A413-886AAD8015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7D8FF0-213C-42F4-B251-C77CE6A54B61}"/>
              </a:ext>
            </a:extLst>
          </p:cNvPr>
          <p:cNvSpPr>
            <a:spLocks noGrp="1"/>
          </p:cNvSpPr>
          <p:nvPr>
            <p:ph type="sldNum" sz="quarter" idx="12"/>
          </p:nvPr>
        </p:nvSpPr>
        <p:spPr/>
        <p:txBody>
          <a:bodyPr/>
          <a:lstStyle/>
          <a:p>
            <a:fld id="{9CB0A5DB-19A8-4AE1-A01F-83777778566A}" type="slidenum">
              <a:rPr lang="en-US" smtClean="0"/>
              <a:t>‹#›</a:t>
            </a:fld>
            <a:endParaRPr lang="en-US"/>
          </a:p>
        </p:txBody>
      </p:sp>
    </p:spTree>
    <p:extLst>
      <p:ext uri="{BB962C8B-B14F-4D97-AF65-F5344CB8AC3E}">
        <p14:creationId xmlns:p14="http://schemas.microsoft.com/office/powerpoint/2010/main" val="1892325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14E8E-9911-4527-9E8A-56F6646F32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54B636A-5294-413D-8A3E-5C18C3AC58D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033C82-24F3-482C-A02E-EECDA6931D7C}"/>
              </a:ext>
            </a:extLst>
          </p:cNvPr>
          <p:cNvSpPr>
            <a:spLocks noGrp="1"/>
          </p:cNvSpPr>
          <p:nvPr>
            <p:ph type="dt" sz="half" idx="10"/>
          </p:nvPr>
        </p:nvSpPr>
        <p:spPr/>
        <p:txBody>
          <a:bodyPr/>
          <a:lstStyle/>
          <a:p>
            <a:fld id="{65FC2DE8-22F5-43EC-92BE-83B306099E60}" type="datetimeFigureOut">
              <a:rPr lang="en-US" smtClean="0"/>
              <a:t>6/3/2026</a:t>
            </a:fld>
            <a:endParaRPr lang="en-US"/>
          </a:p>
        </p:txBody>
      </p:sp>
      <p:sp>
        <p:nvSpPr>
          <p:cNvPr id="5" name="Footer Placeholder 4">
            <a:extLst>
              <a:ext uri="{FF2B5EF4-FFF2-40B4-BE49-F238E27FC236}">
                <a16:creationId xmlns:a16="http://schemas.microsoft.com/office/drawing/2014/main" id="{59702D37-AD06-468A-AAF4-98D00F879D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D38486-BAAD-4436-A421-E123C628390F}"/>
              </a:ext>
            </a:extLst>
          </p:cNvPr>
          <p:cNvSpPr>
            <a:spLocks noGrp="1"/>
          </p:cNvSpPr>
          <p:nvPr>
            <p:ph type="sldNum" sz="quarter" idx="12"/>
          </p:nvPr>
        </p:nvSpPr>
        <p:spPr/>
        <p:txBody>
          <a:bodyPr/>
          <a:lstStyle/>
          <a:p>
            <a:fld id="{9CB0A5DB-19A8-4AE1-A01F-83777778566A}" type="slidenum">
              <a:rPr lang="en-US" smtClean="0"/>
              <a:t>‹#›</a:t>
            </a:fld>
            <a:endParaRPr lang="en-US"/>
          </a:p>
        </p:txBody>
      </p:sp>
    </p:spTree>
    <p:extLst>
      <p:ext uri="{BB962C8B-B14F-4D97-AF65-F5344CB8AC3E}">
        <p14:creationId xmlns:p14="http://schemas.microsoft.com/office/powerpoint/2010/main" val="39059236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A3CFB6-C090-4612-8A63-98F7333C648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51238D9-281D-4348-BBD3-47A8CC728E3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58C9F2-6DE1-42CB-8026-256FF01BF442}"/>
              </a:ext>
            </a:extLst>
          </p:cNvPr>
          <p:cNvSpPr>
            <a:spLocks noGrp="1"/>
          </p:cNvSpPr>
          <p:nvPr>
            <p:ph type="dt" sz="half" idx="10"/>
          </p:nvPr>
        </p:nvSpPr>
        <p:spPr/>
        <p:txBody>
          <a:bodyPr/>
          <a:lstStyle/>
          <a:p>
            <a:fld id="{65FC2DE8-22F5-43EC-92BE-83B306099E60}" type="datetimeFigureOut">
              <a:rPr lang="en-US" smtClean="0"/>
              <a:t>6/3/2026</a:t>
            </a:fld>
            <a:endParaRPr lang="en-US"/>
          </a:p>
        </p:txBody>
      </p:sp>
      <p:sp>
        <p:nvSpPr>
          <p:cNvPr id="5" name="Footer Placeholder 4">
            <a:extLst>
              <a:ext uri="{FF2B5EF4-FFF2-40B4-BE49-F238E27FC236}">
                <a16:creationId xmlns:a16="http://schemas.microsoft.com/office/drawing/2014/main" id="{9BA3DEBB-B9E0-484B-8152-A8305C5833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F55A18-7179-4AAA-A65B-33B744A7BF56}"/>
              </a:ext>
            </a:extLst>
          </p:cNvPr>
          <p:cNvSpPr>
            <a:spLocks noGrp="1"/>
          </p:cNvSpPr>
          <p:nvPr>
            <p:ph type="sldNum" sz="quarter" idx="12"/>
          </p:nvPr>
        </p:nvSpPr>
        <p:spPr/>
        <p:txBody>
          <a:bodyPr/>
          <a:lstStyle/>
          <a:p>
            <a:fld id="{9CB0A5DB-19A8-4AE1-A01F-83777778566A}" type="slidenum">
              <a:rPr lang="en-US" smtClean="0"/>
              <a:t>‹#›</a:t>
            </a:fld>
            <a:endParaRPr lang="en-US"/>
          </a:p>
        </p:txBody>
      </p:sp>
    </p:spTree>
    <p:extLst>
      <p:ext uri="{BB962C8B-B14F-4D97-AF65-F5344CB8AC3E}">
        <p14:creationId xmlns:p14="http://schemas.microsoft.com/office/powerpoint/2010/main" val="4004524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B62711-BF70-473E-8AE6-0AE26D86D9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C74911-9560-4C11-886F-24AAA4161A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B41251-E0B6-4425-B315-6165A2091C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FC2DE8-22F5-43EC-92BE-83B306099E60}" type="datetimeFigureOut">
              <a:rPr lang="en-US" smtClean="0"/>
              <a:t>6/3/2026</a:t>
            </a:fld>
            <a:endParaRPr lang="en-US"/>
          </a:p>
        </p:txBody>
      </p:sp>
      <p:sp>
        <p:nvSpPr>
          <p:cNvPr id="5" name="Footer Placeholder 4">
            <a:extLst>
              <a:ext uri="{FF2B5EF4-FFF2-40B4-BE49-F238E27FC236}">
                <a16:creationId xmlns:a16="http://schemas.microsoft.com/office/drawing/2014/main" id="{6F26223A-456B-485D-9808-7E84B5856E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A3CC8CD-5BCB-4C10-A4AF-FEE5FFD619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B0A5DB-19A8-4AE1-A01F-83777778566A}" type="slidenum">
              <a:rPr lang="en-US" smtClean="0"/>
              <a:t>‹#›</a:t>
            </a:fld>
            <a:endParaRPr lang="en-US"/>
          </a:p>
        </p:txBody>
      </p:sp>
    </p:spTree>
    <p:extLst>
      <p:ext uri="{BB962C8B-B14F-4D97-AF65-F5344CB8AC3E}">
        <p14:creationId xmlns:p14="http://schemas.microsoft.com/office/powerpoint/2010/main" val="40634305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828C4FE-F98E-4DBC-8570-605333549C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1" y="159029"/>
            <a:ext cx="853440" cy="57217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Title 1">
            <a:extLst>
              <a:ext uri="{FF2B5EF4-FFF2-40B4-BE49-F238E27FC236}">
                <a16:creationId xmlns:a16="http://schemas.microsoft.com/office/drawing/2014/main" id="{AACCBB99-00C6-43C5-B812-D3F4B6141785}"/>
              </a:ext>
            </a:extLst>
          </p:cNvPr>
          <p:cNvSpPr>
            <a:spLocks noGrp="1"/>
          </p:cNvSpPr>
          <p:nvPr>
            <p:ph type="ctrTitle"/>
          </p:nvPr>
        </p:nvSpPr>
        <p:spPr>
          <a:xfrm>
            <a:off x="1428584" y="159028"/>
            <a:ext cx="10561983" cy="2973786"/>
          </a:xfrm>
        </p:spPr>
        <p:txBody>
          <a:bodyPr>
            <a:normAutofit/>
          </a:bodyPr>
          <a:lstStyle/>
          <a:p>
            <a:r>
              <a:rPr lang="en-US" sz="2000" b="1" dirty="0">
                <a:latin typeface="Times New Roman" panose="02020603050405020304" pitchFamily="18" charset="0"/>
                <a:cs typeface="Times New Roman" panose="02020603050405020304" pitchFamily="18" charset="0"/>
              </a:rPr>
              <a:t>CUSTOMER EXPERIENCE &amp; SENTIMENT ANALYTICS STUDY</a:t>
            </a: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r>
              <a:rPr lang="en-US" sz="1600" i="1" dirty="0">
                <a:latin typeface="Times New Roman" panose="02020603050405020304" pitchFamily="18" charset="0"/>
                <a:cs typeface="Times New Roman" panose="02020603050405020304" pitchFamily="18" charset="0"/>
              </a:rPr>
              <a:t>A Pilot Customer Intelligence Analysis of Papaye Fast Foods Customer Reviews</a:t>
            </a: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Branches Analyzed:</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Haatso</a:t>
            </a:r>
            <a:r>
              <a:rPr lang="en-US" sz="2000" dirty="0">
                <a:latin typeface="Times New Roman" panose="02020603050405020304" pitchFamily="18" charset="0"/>
                <a:cs typeface="Times New Roman" panose="02020603050405020304" pitchFamily="18" charset="0"/>
              </a:rPr>
              <a:t> Branch </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Tema</a:t>
            </a:r>
            <a:r>
              <a:rPr lang="en-US" sz="2000" dirty="0">
                <a:latin typeface="Times New Roman" panose="02020603050405020304" pitchFamily="18" charset="0"/>
                <a:cs typeface="Times New Roman" panose="02020603050405020304" pitchFamily="18" charset="0"/>
              </a:rPr>
              <a:t> Branch</a:t>
            </a:r>
            <a:br>
              <a:rPr lang="en-US" dirty="0"/>
            </a:br>
            <a:endParaRPr lang="en-US" dirty="0"/>
          </a:p>
        </p:txBody>
      </p:sp>
      <p:sp>
        <p:nvSpPr>
          <p:cNvPr id="3" name="Subtitle 2">
            <a:extLst>
              <a:ext uri="{FF2B5EF4-FFF2-40B4-BE49-F238E27FC236}">
                <a16:creationId xmlns:a16="http://schemas.microsoft.com/office/drawing/2014/main" id="{AF12C31F-71DE-49B4-A426-1E135575DFA0}"/>
              </a:ext>
            </a:extLst>
          </p:cNvPr>
          <p:cNvSpPr>
            <a:spLocks noGrp="1"/>
          </p:cNvSpPr>
          <p:nvPr>
            <p:ph type="subTitle" idx="1"/>
          </p:nvPr>
        </p:nvSpPr>
        <p:spPr>
          <a:xfrm>
            <a:off x="1121135" y="3132814"/>
            <a:ext cx="10694504" cy="2743200"/>
          </a:xfrm>
        </p:spPr>
        <p:txBody>
          <a:bodyPr>
            <a:normAutofit/>
          </a:bodyPr>
          <a:lstStyle/>
          <a:p>
            <a:pPr algn="l"/>
            <a:r>
              <a:rPr lang="en-US" sz="1800" dirty="0">
                <a:latin typeface="Times New Roman" panose="02020603050405020304" pitchFamily="18" charset="0"/>
                <a:cs typeface="Times New Roman" panose="02020603050405020304" pitchFamily="18" charset="0"/>
              </a:rPr>
              <a:t>Prepared by:</a:t>
            </a:r>
          </a:p>
          <a:p>
            <a:pPr algn="l"/>
            <a:r>
              <a:rPr lang="en-US" sz="1800" dirty="0">
                <a:latin typeface="Times New Roman" panose="02020603050405020304" pitchFamily="18" charset="0"/>
                <a:cs typeface="Times New Roman" panose="02020603050405020304" pitchFamily="18" charset="0"/>
              </a:rPr>
              <a:t>Richard Adutwum</a:t>
            </a:r>
          </a:p>
          <a:p>
            <a:pPr algn="l"/>
            <a:r>
              <a:rPr lang="en-US" sz="1800" i="1" dirty="0">
                <a:latin typeface="Times New Roman" panose="02020603050405020304" pitchFamily="18" charset="0"/>
                <a:cs typeface="Times New Roman" panose="02020603050405020304" pitchFamily="18" charset="0"/>
              </a:rPr>
              <a:t>MSc Marketing | AI Adoption Researcher | Business Analytics &amp; Customer Insights Professional</a:t>
            </a:r>
          </a:p>
          <a:p>
            <a:pPr algn="l"/>
            <a:r>
              <a:rPr lang="en-US" sz="1800" dirty="0">
                <a:latin typeface="Times New Roman" panose="02020603050405020304" pitchFamily="18" charset="0"/>
                <a:cs typeface="Times New Roman" panose="02020603050405020304" pitchFamily="18" charset="0"/>
              </a:rPr>
              <a:t>June 2026</a:t>
            </a:r>
          </a:p>
          <a:p>
            <a:pPr algn="l"/>
            <a:endParaRPr lang="en-US" sz="1800" dirty="0">
              <a:latin typeface="Times New Roman" panose="02020603050405020304" pitchFamily="18" charset="0"/>
              <a:cs typeface="Times New Roman" panose="02020603050405020304" pitchFamily="18" charset="0"/>
            </a:endParaRPr>
          </a:p>
          <a:p>
            <a:pPr algn="l"/>
            <a:r>
              <a:rPr lang="en-US" sz="1600" dirty="0">
                <a:latin typeface="Times New Roman" panose="02020603050405020304" pitchFamily="18" charset="0"/>
                <a:cs typeface="Times New Roman" panose="02020603050405020304" pitchFamily="18" charset="0"/>
              </a:rPr>
              <a:t>This analysis was conducted independently as a practical application of customer experience analytics and sentiment analysis techniques. As a former employee who greatly values the role Papaye played in my professional development, I wanted to explore how publicly available customer feedback could be transformed into actionable business insights.</a:t>
            </a: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8964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3D26A-B904-4F94-A757-275110AE12F4}"/>
              </a:ext>
            </a:extLst>
          </p:cNvPr>
          <p:cNvSpPr>
            <a:spLocks noGrp="1"/>
          </p:cNvSpPr>
          <p:nvPr>
            <p:ph type="title"/>
          </p:nvPr>
        </p:nvSpPr>
        <p:spPr/>
        <p:txBody>
          <a:bodyPr>
            <a:normAutofit/>
          </a:bodyPr>
          <a:lstStyle/>
          <a:p>
            <a:pPr algn="ctr"/>
            <a:r>
              <a:rPr lang="en-US" sz="2800" dirty="0">
                <a:latin typeface="Times New Roman" panose="02020603050405020304" pitchFamily="18" charset="0"/>
                <a:cs typeface="Times New Roman" panose="02020603050405020304" pitchFamily="18" charset="0"/>
              </a:rPr>
              <a:t>EXECUTIVE SUMMARY</a:t>
            </a:r>
          </a:p>
        </p:txBody>
      </p:sp>
      <p:sp>
        <p:nvSpPr>
          <p:cNvPr id="3" name="Content Placeholder 2">
            <a:extLst>
              <a:ext uri="{FF2B5EF4-FFF2-40B4-BE49-F238E27FC236}">
                <a16:creationId xmlns:a16="http://schemas.microsoft.com/office/drawing/2014/main" id="{0BF9A0A3-F925-4024-94C5-A039CA572004}"/>
              </a:ext>
            </a:extLst>
          </p:cNvPr>
          <p:cNvSpPr>
            <a:spLocks noGrp="1"/>
          </p:cNvSpPr>
          <p:nvPr>
            <p:ph idx="1"/>
          </p:nvPr>
        </p:nvSpPr>
        <p:spPr>
          <a:xfrm>
            <a:off x="838199" y="1690688"/>
            <a:ext cx="11041049" cy="4486275"/>
          </a:xfrm>
        </p:spPr>
        <p:txBody>
          <a:bodyPr>
            <a:normAutofit fontScale="47500" lnSpcReduction="20000"/>
          </a:bodyPr>
          <a:lstStyle/>
          <a:p>
            <a:pPr>
              <a:lnSpc>
                <a:spcPct val="170000"/>
              </a:lnSpc>
            </a:pPr>
            <a:r>
              <a:rPr lang="en-US" dirty="0">
                <a:latin typeface="Times New Roman" panose="02020603050405020304" pitchFamily="18" charset="0"/>
                <a:cs typeface="Times New Roman" panose="02020603050405020304" pitchFamily="18" charset="0"/>
              </a:rPr>
              <a:t>As part of my continued professional development in marketing analytics, customer experience management, and data analytics, I conducted an independent pilot study using publicly available customer reviews from the </a:t>
            </a:r>
            <a:r>
              <a:rPr lang="en-US" dirty="0" err="1">
                <a:latin typeface="Times New Roman" panose="02020603050405020304" pitchFamily="18" charset="0"/>
                <a:cs typeface="Times New Roman" panose="02020603050405020304" pitchFamily="18" charset="0"/>
              </a:rPr>
              <a:t>Haatso</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Tema</a:t>
            </a:r>
            <a:r>
              <a:rPr lang="en-US" dirty="0">
                <a:latin typeface="Times New Roman" panose="02020603050405020304" pitchFamily="18" charset="0"/>
                <a:cs typeface="Times New Roman" panose="02020603050405020304" pitchFamily="18" charset="0"/>
              </a:rPr>
              <a:t> branches of Papaye Fast Foods.</a:t>
            </a:r>
          </a:p>
          <a:p>
            <a:pPr>
              <a:lnSpc>
                <a:spcPct val="170000"/>
              </a:lnSpc>
            </a:pPr>
            <a:r>
              <a:rPr lang="en-US" dirty="0">
                <a:latin typeface="Times New Roman" panose="02020603050405020304" pitchFamily="18" charset="0"/>
                <a:cs typeface="Times New Roman" panose="02020603050405020304" pitchFamily="18" charset="0"/>
              </a:rPr>
              <a:t>The objective was to understand customer perceptions, identify satisfaction drivers, uncover recurring complaints, and demonstrate how customer feedback data can be transformed into actionable business insights.</a:t>
            </a:r>
          </a:p>
          <a:p>
            <a:pPr>
              <a:lnSpc>
                <a:spcPct val="170000"/>
              </a:lnSpc>
            </a:pPr>
            <a:r>
              <a:rPr lang="en-US" dirty="0">
                <a:latin typeface="Times New Roman" panose="02020603050405020304" pitchFamily="18" charset="0"/>
                <a:cs typeface="Times New Roman" panose="02020603050405020304" pitchFamily="18" charset="0"/>
              </a:rPr>
              <a:t>A total of 134 customer reviews were analyzed using sentiment analysis and descriptive analytics techniques.</a:t>
            </a:r>
          </a:p>
          <a:p>
            <a:pPr marL="0" indent="0">
              <a:lnSpc>
                <a:spcPct val="170000"/>
              </a:lnSpc>
              <a:buNone/>
            </a:pPr>
            <a:r>
              <a:rPr lang="en-US" b="1" dirty="0">
                <a:latin typeface="Times New Roman" panose="02020603050405020304" pitchFamily="18" charset="0"/>
                <a:cs typeface="Times New Roman" panose="02020603050405020304" pitchFamily="18" charset="0"/>
              </a:rPr>
              <a:t>Key Findings</a:t>
            </a:r>
          </a:p>
          <a:p>
            <a:pPr>
              <a:lnSpc>
                <a:spcPct val="170000"/>
              </a:lnSpc>
            </a:pPr>
            <a:r>
              <a:rPr lang="en-US" dirty="0">
                <a:latin typeface="Times New Roman" panose="02020603050405020304" pitchFamily="18" charset="0"/>
                <a:cs typeface="Times New Roman" panose="02020603050405020304" pitchFamily="18" charset="0"/>
              </a:rPr>
              <a:t>61.19% of reviews expressed positive sentiment. </a:t>
            </a:r>
          </a:p>
          <a:p>
            <a:pPr>
              <a:lnSpc>
                <a:spcPct val="170000"/>
              </a:lnSpc>
            </a:pPr>
            <a:r>
              <a:rPr lang="en-US" dirty="0" err="1">
                <a:latin typeface="Times New Roman" panose="02020603050405020304" pitchFamily="18" charset="0"/>
                <a:cs typeface="Times New Roman" panose="02020603050405020304" pitchFamily="18" charset="0"/>
              </a:rPr>
              <a:t>Haatso</a:t>
            </a:r>
            <a:r>
              <a:rPr lang="en-US" dirty="0">
                <a:latin typeface="Times New Roman" panose="02020603050405020304" pitchFamily="18" charset="0"/>
                <a:cs typeface="Times New Roman" panose="02020603050405020304" pitchFamily="18" charset="0"/>
              </a:rPr>
              <a:t> outperformed </a:t>
            </a:r>
            <a:r>
              <a:rPr lang="en-US" dirty="0" err="1">
                <a:latin typeface="Times New Roman" panose="02020603050405020304" pitchFamily="18" charset="0"/>
                <a:cs typeface="Times New Roman" panose="02020603050405020304" pitchFamily="18" charset="0"/>
              </a:rPr>
              <a:t>Tema</a:t>
            </a:r>
            <a:r>
              <a:rPr lang="en-US" dirty="0">
                <a:latin typeface="Times New Roman" panose="02020603050405020304" pitchFamily="18" charset="0"/>
                <a:cs typeface="Times New Roman" panose="02020603050405020304" pitchFamily="18" charset="0"/>
              </a:rPr>
              <a:t> across all rating dimensions. </a:t>
            </a:r>
          </a:p>
          <a:p>
            <a:pPr>
              <a:lnSpc>
                <a:spcPct val="170000"/>
              </a:lnSpc>
            </a:pPr>
            <a:r>
              <a:rPr lang="en-US" dirty="0">
                <a:latin typeface="Times New Roman" panose="02020603050405020304" pitchFamily="18" charset="0"/>
                <a:cs typeface="Times New Roman" panose="02020603050405020304" pitchFamily="18" charset="0"/>
              </a:rPr>
              <a:t>Food quality remains the strongest driver of customer satisfaction. </a:t>
            </a:r>
          </a:p>
          <a:p>
            <a:pPr>
              <a:lnSpc>
                <a:spcPct val="170000"/>
              </a:lnSpc>
            </a:pPr>
            <a:r>
              <a:rPr lang="en-US" dirty="0">
                <a:latin typeface="Times New Roman" panose="02020603050405020304" pitchFamily="18" charset="0"/>
                <a:cs typeface="Times New Roman" panose="02020603050405020304" pitchFamily="18" charset="0"/>
              </a:rPr>
              <a:t>Waiting time and service speed represent the most common customer concerns. </a:t>
            </a:r>
          </a:p>
          <a:p>
            <a:pPr>
              <a:lnSpc>
                <a:spcPct val="170000"/>
              </a:lnSpc>
            </a:pPr>
            <a:r>
              <a:rPr lang="en-US" dirty="0">
                <a:latin typeface="Times New Roman" panose="02020603050405020304" pitchFamily="18" charset="0"/>
                <a:cs typeface="Times New Roman" panose="02020603050405020304" pitchFamily="18" charset="0"/>
              </a:rPr>
              <a:t>Customer review analytics can provide valuable operational insights for management decision-making. </a:t>
            </a:r>
          </a:p>
          <a:p>
            <a:endParaRPr lang="en-US" dirty="0"/>
          </a:p>
        </p:txBody>
      </p:sp>
    </p:spTree>
    <p:extLst>
      <p:ext uri="{BB962C8B-B14F-4D97-AF65-F5344CB8AC3E}">
        <p14:creationId xmlns:p14="http://schemas.microsoft.com/office/powerpoint/2010/main" val="1596928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C1CEB-1002-4F72-A353-FAB256A65BBB}"/>
              </a:ext>
            </a:extLst>
          </p:cNvPr>
          <p:cNvSpPr>
            <a:spLocks noGrp="1"/>
          </p:cNvSpPr>
          <p:nvPr>
            <p:ph type="title"/>
          </p:nvPr>
        </p:nvSpPr>
        <p:spPr/>
        <p:txBody>
          <a:bodyPr>
            <a:normAutofit/>
          </a:bodyPr>
          <a:lstStyle/>
          <a:p>
            <a:pPr algn="ctr"/>
            <a:r>
              <a:rPr lang="en-US" sz="2800" dirty="0">
                <a:latin typeface="Times New Roman" panose="02020603050405020304" pitchFamily="18" charset="0"/>
                <a:cs typeface="Times New Roman" panose="02020603050405020304" pitchFamily="18" charset="0"/>
              </a:rPr>
              <a:t>PROJECT OBJECTIVES</a:t>
            </a:r>
          </a:p>
        </p:txBody>
      </p:sp>
      <p:sp>
        <p:nvSpPr>
          <p:cNvPr id="3" name="Content Placeholder 2">
            <a:extLst>
              <a:ext uri="{FF2B5EF4-FFF2-40B4-BE49-F238E27FC236}">
                <a16:creationId xmlns:a16="http://schemas.microsoft.com/office/drawing/2014/main" id="{4E997FFA-3FC6-4408-91FA-AF9B565E89D6}"/>
              </a:ext>
            </a:extLst>
          </p:cNvPr>
          <p:cNvSpPr>
            <a:spLocks noGrp="1"/>
          </p:cNvSpPr>
          <p:nvPr>
            <p:ph idx="1"/>
          </p:nvPr>
        </p:nvSpPr>
        <p:spPr>
          <a:xfrm>
            <a:off x="909761" y="1332643"/>
            <a:ext cx="10515600" cy="5378257"/>
          </a:xfrm>
        </p:spPr>
        <p:txBody>
          <a:bodyPr>
            <a:normAutofit fontScale="25000" lnSpcReduction="20000"/>
          </a:bodyPr>
          <a:lstStyle/>
          <a:p>
            <a:pPr>
              <a:lnSpc>
                <a:spcPct val="170000"/>
              </a:lnSpc>
            </a:pPr>
            <a:r>
              <a:rPr lang="en-US" sz="5600" b="1" dirty="0">
                <a:latin typeface="Times New Roman" panose="02020603050405020304" pitchFamily="18" charset="0"/>
                <a:cs typeface="Times New Roman" panose="02020603050405020304" pitchFamily="18" charset="0"/>
              </a:rPr>
              <a:t>Objectives of the Analysis</a:t>
            </a:r>
          </a:p>
          <a:p>
            <a:pPr marL="0" indent="0">
              <a:lnSpc>
                <a:spcPct val="170000"/>
              </a:lnSpc>
              <a:buNone/>
            </a:pPr>
            <a:r>
              <a:rPr lang="en-US" sz="5600" dirty="0">
                <a:latin typeface="Times New Roman" panose="02020603050405020304" pitchFamily="18" charset="0"/>
                <a:cs typeface="Times New Roman" panose="02020603050405020304" pitchFamily="18" charset="0"/>
              </a:rPr>
              <a:t>This study aimed to:</a:t>
            </a:r>
          </a:p>
          <a:p>
            <a:pPr>
              <a:lnSpc>
                <a:spcPct val="170000"/>
              </a:lnSpc>
            </a:pPr>
            <a:r>
              <a:rPr lang="en-US" sz="5600" b="1" dirty="0">
                <a:latin typeface="Times New Roman" panose="02020603050405020304" pitchFamily="18" charset="0"/>
                <a:cs typeface="Times New Roman" panose="02020603050405020304" pitchFamily="18" charset="0"/>
              </a:rPr>
              <a:t>Understand Customer Sentiment</a:t>
            </a:r>
          </a:p>
          <a:p>
            <a:pPr marL="0" indent="0">
              <a:lnSpc>
                <a:spcPct val="170000"/>
              </a:lnSpc>
              <a:buNone/>
            </a:pPr>
            <a:r>
              <a:rPr lang="en-US" sz="5600" dirty="0">
                <a:latin typeface="Times New Roman" panose="02020603050405020304" pitchFamily="18" charset="0"/>
                <a:cs typeface="Times New Roman" panose="02020603050405020304" pitchFamily="18" charset="0"/>
              </a:rPr>
              <a:t>Determine whether customers generally express positive, neutral, or negative experiences.</a:t>
            </a:r>
          </a:p>
          <a:p>
            <a:pPr>
              <a:lnSpc>
                <a:spcPct val="170000"/>
              </a:lnSpc>
            </a:pPr>
            <a:r>
              <a:rPr lang="en-US" sz="5600" b="1" dirty="0">
                <a:latin typeface="Times New Roman" panose="02020603050405020304" pitchFamily="18" charset="0"/>
                <a:cs typeface="Times New Roman" panose="02020603050405020304" pitchFamily="18" charset="0"/>
              </a:rPr>
              <a:t>Compare Branch Performance</a:t>
            </a:r>
          </a:p>
          <a:p>
            <a:pPr marL="0" indent="0">
              <a:lnSpc>
                <a:spcPct val="170000"/>
              </a:lnSpc>
              <a:buNone/>
            </a:pPr>
            <a:r>
              <a:rPr lang="en-US" sz="5600" dirty="0">
                <a:latin typeface="Times New Roman" panose="02020603050405020304" pitchFamily="18" charset="0"/>
                <a:cs typeface="Times New Roman" panose="02020603050405020304" pitchFamily="18" charset="0"/>
              </a:rPr>
              <a:t>Evaluate differences between </a:t>
            </a:r>
            <a:r>
              <a:rPr lang="en-US" sz="5600" dirty="0" err="1">
                <a:latin typeface="Times New Roman" panose="02020603050405020304" pitchFamily="18" charset="0"/>
                <a:cs typeface="Times New Roman" panose="02020603050405020304" pitchFamily="18" charset="0"/>
              </a:rPr>
              <a:t>Haatso</a:t>
            </a:r>
            <a:r>
              <a:rPr lang="en-US" sz="5600" dirty="0">
                <a:latin typeface="Times New Roman" panose="02020603050405020304" pitchFamily="18" charset="0"/>
                <a:cs typeface="Times New Roman" panose="02020603050405020304" pitchFamily="18" charset="0"/>
              </a:rPr>
              <a:t> and </a:t>
            </a:r>
            <a:r>
              <a:rPr lang="en-US" sz="5600" dirty="0" err="1">
                <a:latin typeface="Times New Roman" panose="02020603050405020304" pitchFamily="18" charset="0"/>
                <a:cs typeface="Times New Roman" panose="02020603050405020304" pitchFamily="18" charset="0"/>
              </a:rPr>
              <a:t>Tema</a:t>
            </a:r>
            <a:r>
              <a:rPr lang="en-US" sz="5600" dirty="0">
                <a:latin typeface="Times New Roman" panose="02020603050405020304" pitchFamily="18" charset="0"/>
                <a:cs typeface="Times New Roman" panose="02020603050405020304" pitchFamily="18" charset="0"/>
              </a:rPr>
              <a:t> customer experiences.</a:t>
            </a:r>
          </a:p>
          <a:p>
            <a:pPr>
              <a:lnSpc>
                <a:spcPct val="170000"/>
              </a:lnSpc>
            </a:pPr>
            <a:r>
              <a:rPr lang="en-US" sz="5600" b="1" dirty="0">
                <a:latin typeface="Times New Roman" panose="02020603050405020304" pitchFamily="18" charset="0"/>
                <a:cs typeface="Times New Roman" panose="02020603050405020304" pitchFamily="18" charset="0"/>
              </a:rPr>
              <a:t>Identify Customer Satisfaction Drivers</a:t>
            </a:r>
          </a:p>
          <a:p>
            <a:pPr marL="0" indent="0">
              <a:lnSpc>
                <a:spcPct val="170000"/>
              </a:lnSpc>
              <a:buNone/>
            </a:pPr>
            <a:r>
              <a:rPr lang="en-US" sz="5600" dirty="0">
                <a:latin typeface="Times New Roman" panose="02020603050405020304" pitchFamily="18" charset="0"/>
                <a:cs typeface="Times New Roman" panose="02020603050405020304" pitchFamily="18" charset="0"/>
              </a:rPr>
              <a:t>Determine which aspects of the customer experience contribute most strongly to positive reviews.</a:t>
            </a:r>
          </a:p>
          <a:p>
            <a:pPr>
              <a:lnSpc>
                <a:spcPct val="170000"/>
              </a:lnSpc>
            </a:pPr>
            <a:r>
              <a:rPr lang="en-US" sz="5600" b="1" dirty="0">
                <a:latin typeface="Times New Roman" panose="02020603050405020304" pitchFamily="18" charset="0"/>
                <a:cs typeface="Times New Roman" panose="02020603050405020304" pitchFamily="18" charset="0"/>
              </a:rPr>
              <a:t>Identify Improvement Opportunities</a:t>
            </a:r>
          </a:p>
          <a:p>
            <a:pPr marL="0" indent="0">
              <a:lnSpc>
                <a:spcPct val="170000"/>
              </a:lnSpc>
              <a:buNone/>
            </a:pPr>
            <a:r>
              <a:rPr lang="en-US" sz="5600" dirty="0">
                <a:latin typeface="Times New Roman" panose="02020603050405020304" pitchFamily="18" charset="0"/>
                <a:cs typeface="Times New Roman" panose="02020603050405020304" pitchFamily="18" charset="0"/>
              </a:rPr>
              <a:t>Highlight recurring complaints and operational challenges affecting customer satisfaction.</a:t>
            </a:r>
          </a:p>
          <a:p>
            <a:pPr>
              <a:lnSpc>
                <a:spcPct val="170000"/>
              </a:lnSpc>
            </a:pPr>
            <a:r>
              <a:rPr lang="en-US" sz="5600" b="1" dirty="0">
                <a:latin typeface="Times New Roman" panose="02020603050405020304" pitchFamily="18" charset="0"/>
                <a:cs typeface="Times New Roman" panose="02020603050405020304" pitchFamily="18" charset="0"/>
              </a:rPr>
              <a:t>Demonstrate Data-Driven Decision Making</a:t>
            </a:r>
          </a:p>
          <a:p>
            <a:pPr marL="0" indent="0">
              <a:lnSpc>
                <a:spcPct val="170000"/>
              </a:lnSpc>
              <a:buNone/>
            </a:pPr>
            <a:r>
              <a:rPr lang="en-US" sz="5600" dirty="0">
                <a:latin typeface="Times New Roman" panose="02020603050405020304" pitchFamily="18" charset="0"/>
                <a:cs typeface="Times New Roman" panose="02020603050405020304" pitchFamily="18" charset="0"/>
              </a:rPr>
              <a:t>Illustrate how customer feedback can support continuous business improvement.</a:t>
            </a:r>
          </a:p>
          <a:p>
            <a:endParaRPr lang="en-US" dirty="0"/>
          </a:p>
        </p:txBody>
      </p:sp>
    </p:spTree>
    <p:extLst>
      <p:ext uri="{BB962C8B-B14F-4D97-AF65-F5344CB8AC3E}">
        <p14:creationId xmlns:p14="http://schemas.microsoft.com/office/powerpoint/2010/main" val="3855749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52171-156A-48F0-829D-0614D7E4116B}"/>
              </a:ext>
            </a:extLst>
          </p:cNvPr>
          <p:cNvSpPr>
            <a:spLocks noGrp="1"/>
          </p:cNvSpPr>
          <p:nvPr>
            <p:ph type="title"/>
          </p:nvPr>
        </p:nvSpPr>
        <p:spPr>
          <a:xfrm>
            <a:off x="838200" y="285613"/>
            <a:ext cx="10515600" cy="1062134"/>
          </a:xfrm>
        </p:spPr>
        <p:txBody>
          <a:bodyPr>
            <a:normAutofit/>
          </a:bodyPr>
          <a:lstStyle/>
          <a:p>
            <a:pPr algn="ctr"/>
            <a:r>
              <a:rPr lang="en-US" sz="2800" dirty="0">
                <a:latin typeface="Times New Roman" panose="02020603050405020304" pitchFamily="18" charset="0"/>
                <a:cs typeface="Times New Roman" panose="02020603050405020304" pitchFamily="18" charset="0"/>
              </a:rPr>
              <a:t>DATASET OVERVIEW</a:t>
            </a:r>
          </a:p>
        </p:txBody>
      </p:sp>
      <p:graphicFrame>
        <p:nvGraphicFramePr>
          <p:cNvPr id="6" name="Content Placeholder 5">
            <a:extLst>
              <a:ext uri="{FF2B5EF4-FFF2-40B4-BE49-F238E27FC236}">
                <a16:creationId xmlns:a16="http://schemas.microsoft.com/office/drawing/2014/main" id="{93A5A201-5BA5-411F-88A9-69DFFC3E74EB}"/>
              </a:ext>
            </a:extLst>
          </p:cNvPr>
          <p:cNvGraphicFramePr>
            <a:graphicFrameLocks noGrp="1"/>
          </p:cNvGraphicFramePr>
          <p:nvPr>
            <p:ph idx="1"/>
            <p:extLst>
              <p:ext uri="{D42A27DB-BD31-4B8C-83A1-F6EECF244321}">
                <p14:modId xmlns:p14="http://schemas.microsoft.com/office/powerpoint/2010/main" val="887009904"/>
              </p:ext>
            </p:extLst>
          </p:nvPr>
        </p:nvGraphicFramePr>
        <p:xfrm>
          <a:off x="838200" y="1192696"/>
          <a:ext cx="10515600" cy="3434964"/>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62569114"/>
                    </a:ext>
                  </a:extLst>
                </a:gridCol>
                <a:gridCol w="5257800">
                  <a:extLst>
                    <a:ext uri="{9D8B030D-6E8A-4147-A177-3AD203B41FA5}">
                      <a16:colId xmlns:a16="http://schemas.microsoft.com/office/drawing/2014/main" val="4293357162"/>
                    </a:ext>
                  </a:extLst>
                </a:gridCol>
              </a:tblGrid>
              <a:tr h="565944">
                <a:tc>
                  <a:txBody>
                    <a:bodyPr/>
                    <a:lstStyle/>
                    <a:p>
                      <a:r>
                        <a:rPr lang="en-US" dirty="0"/>
                        <a:t>Metric</a:t>
                      </a:r>
                    </a:p>
                  </a:txBody>
                  <a:tcPr anchor="ctr"/>
                </a:tc>
                <a:tc>
                  <a:txBody>
                    <a:bodyPr/>
                    <a:lstStyle/>
                    <a:p>
                      <a:r>
                        <a:rPr lang="en-US"/>
                        <a:t>Value</a:t>
                      </a:r>
                    </a:p>
                  </a:txBody>
                  <a:tcPr anchor="ctr"/>
                </a:tc>
                <a:extLst>
                  <a:ext uri="{0D108BD9-81ED-4DB2-BD59-A6C34878D82A}">
                    <a16:rowId xmlns:a16="http://schemas.microsoft.com/office/drawing/2014/main" val="1965268695"/>
                  </a:ext>
                </a:extLst>
              </a:tr>
              <a:tr h="573804">
                <a:tc>
                  <a:txBody>
                    <a:bodyPr/>
                    <a:lstStyle/>
                    <a:p>
                      <a:r>
                        <a:rPr lang="en-US" dirty="0"/>
                        <a:t>Total Reviews</a:t>
                      </a:r>
                    </a:p>
                  </a:txBody>
                  <a:tcPr anchor="ctr"/>
                </a:tc>
                <a:tc>
                  <a:txBody>
                    <a:bodyPr/>
                    <a:lstStyle/>
                    <a:p>
                      <a:r>
                        <a:rPr lang="en-US"/>
                        <a:t>134</a:t>
                      </a:r>
                    </a:p>
                  </a:txBody>
                  <a:tcPr anchor="ctr"/>
                </a:tc>
                <a:extLst>
                  <a:ext uri="{0D108BD9-81ED-4DB2-BD59-A6C34878D82A}">
                    <a16:rowId xmlns:a16="http://schemas.microsoft.com/office/drawing/2014/main" val="1849127781"/>
                  </a:ext>
                </a:extLst>
              </a:tr>
              <a:tr h="573804">
                <a:tc>
                  <a:txBody>
                    <a:bodyPr/>
                    <a:lstStyle/>
                    <a:p>
                      <a:r>
                        <a:rPr lang="en-US"/>
                        <a:t>Branches Analyzed</a:t>
                      </a:r>
                    </a:p>
                  </a:txBody>
                  <a:tcPr anchor="ctr"/>
                </a:tc>
                <a:tc>
                  <a:txBody>
                    <a:bodyPr/>
                    <a:lstStyle/>
                    <a:p>
                      <a:r>
                        <a:rPr lang="en-US"/>
                        <a:t>2</a:t>
                      </a:r>
                    </a:p>
                  </a:txBody>
                  <a:tcPr anchor="ctr"/>
                </a:tc>
                <a:extLst>
                  <a:ext uri="{0D108BD9-81ED-4DB2-BD59-A6C34878D82A}">
                    <a16:rowId xmlns:a16="http://schemas.microsoft.com/office/drawing/2014/main" val="1352338819"/>
                  </a:ext>
                </a:extLst>
              </a:tr>
              <a:tr h="573804">
                <a:tc>
                  <a:txBody>
                    <a:bodyPr/>
                    <a:lstStyle/>
                    <a:p>
                      <a:r>
                        <a:rPr lang="en-US"/>
                        <a:t>Positive Reviews</a:t>
                      </a:r>
                    </a:p>
                  </a:txBody>
                  <a:tcPr anchor="ctr"/>
                </a:tc>
                <a:tc>
                  <a:txBody>
                    <a:bodyPr/>
                    <a:lstStyle/>
                    <a:p>
                      <a:r>
                        <a:rPr lang="en-US"/>
                        <a:t>82</a:t>
                      </a:r>
                    </a:p>
                  </a:txBody>
                  <a:tcPr anchor="ctr"/>
                </a:tc>
                <a:extLst>
                  <a:ext uri="{0D108BD9-81ED-4DB2-BD59-A6C34878D82A}">
                    <a16:rowId xmlns:a16="http://schemas.microsoft.com/office/drawing/2014/main" val="24306421"/>
                  </a:ext>
                </a:extLst>
              </a:tr>
              <a:tr h="573804">
                <a:tc>
                  <a:txBody>
                    <a:bodyPr/>
                    <a:lstStyle/>
                    <a:p>
                      <a:r>
                        <a:rPr lang="en-US"/>
                        <a:t>Negative Reviews</a:t>
                      </a:r>
                    </a:p>
                  </a:txBody>
                  <a:tcPr anchor="ctr"/>
                </a:tc>
                <a:tc>
                  <a:txBody>
                    <a:bodyPr/>
                    <a:lstStyle/>
                    <a:p>
                      <a:r>
                        <a:rPr lang="en-US"/>
                        <a:t>31</a:t>
                      </a:r>
                    </a:p>
                  </a:txBody>
                  <a:tcPr anchor="ctr"/>
                </a:tc>
                <a:extLst>
                  <a:ext uri="{0D108BD9-81ED-4DB2-BD59-A6C34878D82A}">
                    <a16:rowId xmlns:a16="http://schemas.microsoft.com/office/drawing/2014/main" val="56048919"/>
                  </a:ext>
                </a:extLst>
              </a:tr>
              <a:tr h="573804">
                <a:tc>
                  <a:txBody>
                    <a:bodyPr/>
                    <a:lstStyle/>
                    <a:p>
                      <a:r>
                        <a:rPr lang="en-US" dirty="0"/>
                        <a:t>Neutral Reviews</a:t>
                      </a:r>
                    </a:p>
                  </a:txBody>
                  <a:tcPr anchor="ctr"/>
                </a:tc>
                <a:tc>
                  <a:txBody>
                    <a:bodyPr/>
                    <a:lstStyle/>
                    <a:p>
                      <a:r>
                        <a:rPr lang="en-US" dirty="0"/>
                        <a:t>21</a:t>
                      </a:r>
                    </a:p>
                  </a:txBody>
                  <a:tcPr anchor="ctr"/>
                </a:tc>
                <a:extLst>
                  <a:ext uri="{0D108BD9-81ED-4DB2-BD59-A6C34878D82A}">
                    <a16:rowId xmlns:a16="http://schemas.microsoft.com/office/drawing/2014/main" val="4001833504"/>
                  </a:ext>
                </a:extLst>
              </a:tr>
            </a:tbl>
          </a:graphicData>
        </a:graphic>
      </p:graphicFrame>
      <p:sp>
        <p:nvSpPr>
          <p:cNvPr id="7" name="Rectangle 6">
            <a:extLst>
              <a:ext uri="{FF2B5EF4-FFF2-40B4-BE49-F238E27FC236}">
                <a16:creationId xmlns:a16="http://schemas.microsoft.com/office/drawing/2014/main" id="{8D59CACB-8C74-4EAA-897F-648B65508BAA}"/>
              </a:ext>
            </a:extLst>
          </p:cNvPr>
          <p:cNvSpPr/>
          <p:nvPr/>
        </p:nvSpPr>
        <p:spPr>
          <a:xfrm>
            <a:off x="3715911" y="5452767"/>
            <a:ext cx="6096000" cy="954107"/>
          </a:xfrm>
          <a:prstGeom prst="rect">
            <a:avLst/>
          </a:prstGeom>
        </p:spPr>
        <p:txBody>
          <a:bodyPr>
            <a:spAutoFit/>
          </a:bodyPr>
          <a:lstStyle/>
          <a:p>
            <a:r>
              <a:rPr lang="en-US" sz="1400" b="1" u="sng" dirty="0">
                <a:latin typeface="Times New Roman" panose="02020603050405020304" pitchFamily="18" charset="0"/>
                <a:cs typeface="Times New Roman" panose="02020603050405020304" pitchFamily="18" charset="0"/>
              </a:rPr>
              <a:t>Important Note</a:t>
            </a:r>
          </a:p>
          <a:p>
            <a:r>
              <a:rPr lang="en-US" sz="1400" dirty="0">
                <a:latin typeface="Times New Roman" panose="02020603050405020304" pitchFamily="18" charset="0"/>
                <a:cs typeface="Times New Roman" panose="02020603050405020304" pitchFamily="18" charset="0"/>
              </a:rPr>
              <a:t>This project represents a pilot study involving two branches and serves as a proof of concept for broader customer review analytics across the company's branch network.</a:t>
            </a:r>
          </a:p>
        </p:txBody>
      </p:sp>
    </p:spTree>
    <p:extLst>
      <p:ext uri="{BB962C8B-B14F-4D97-AF65-F5344CB8AC3E}">
        <p14:creationId xmlns:p14="http://schemas.microsoft.com/office/powerpoint/2010/main" val="2348701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2D920-FCAF-40E2-B265-FC7A66095B40}"/>
              </a:ext>
            </a:extLst>
          </p:cNvPr>
          <p:cNvSpPr>
            <a:spLocks noGrp="1"/>
          </p:cNvSpPr>
          <p:nvPr>
            <p:ph type="title"/>
          </p:nvPr>
        </p:nvSpPr>
        <p:spPr>
          <a:xfrm>
            <a:off x="838200" y="365126"/>
            <a:ext cx="10515600" cy="525420"/>
          </a:xfrm>
        </p:spPr>
        <p:txBody>
          <a:bodyPr>
            <a:normAutofit/>
          </a:bodyPr>
          <a:lstStyle/>
          <a:p>
            <a:pPr algn="ctr"/>
            <a:r>
              <a:rPr lang="en-US" sz="2800" dirty="0">
                <a:latin typeface="Times New Roman" panose="02020603050405020304" pitchFamily="18" charset="0"/>
                <a:cs typeface="Times New Roman" panose="02020603050405020304" pitchFamily="18" charset="0"/>
              </a:rPr>
              <a:t>ANALYTICAL APPROACH</a:t>
            </a:r>
          </a:p>
        </p:txBody>
      </p:sp>
      <p:sp>
        <p:nvSpPr>
          <p:cNvPr id="3" name="Content Placeholder 2">
            <a:extLst>
              <a:ext uri="{FF2B5EF4-FFF2-40B4-BE49-F238E27FC236}">
                <a16:creationId xmlns:a16="http://schemas.microsoft.com/office/drawing/2014/main" id="{3564127B-5863-42E4-94D1-333B9C76A935}"/>
              </a:ext>
            </a:extLst>
          </p:cNvPr>
          <p:cNvSpPr>
            <a:spLocks noGrp="1"/>
          </p:cNvSpPr>
          <p:nvPr>
            <p:ph idx="1"/>
          </p:nvPr>
        </p:nvSpPr>
        <p:spPr>
          <a:xfrm>
            <a:off x="838200" y="1327868"/>
            <a:ext cx="10953584" cy="5319422"/>
          </a:xfrm>
        </p:spPr>
        <p:txBody>
          <a:bodyPr>
            <a:normAutofit/>
          </a:bodyPr>
          <a:lstStyle/>
          <a:p>
            <a:pPr marL="0" indent="0" algn="ctr">
              <a:buNone/>
            </a:pPr>
            <a:r>
              <a:rPr lang="en-US" b="1" dirty="0">
                <a:latin typeface="Times New Roman" panose="02020603050405020304" pitchFamily="18" charset="0"/>
                <a:cs typeface="Times New Roman" panose="02020603050405020304" pitchFamily="18" charset="0"/>
              </a:rPr>
              <a:t>Methodology</a:t>
            </a:r>
          </a:p>
          <a:p>
            <a:pPr marL="0" indent="0">
              <a:buNone/>
            </a:pPr>
            <a:endParaRPr lang="en-US" dirty="0"/>
          </a:p>
        </p:txBody>
      </p:sp>
      <p:graphicFrame>
        <p:nvGraphicFramePr>
          <p:cNvPr id="4" name="Diagram 3">
            <a:extLst>
              <a:ext uri="{FF2B5EF4-FFF2-40B4-BE49-F238E27FC236}">
                <a16:creationId xmlns:a16="http://schemas.microsoft.com/office/drawing/2014/main" id="{A4727803-2E6E-40F8-A7E1-A04A0D433546}"/>
              </a:ext>
            </a:extLst>
          </p:cNvPr>
          <p:cNvGraphicFramePr/>
          <p:nvPr>
            <p:extLst>
              <p:ext uri="{D42A27DB-BD31-4B8C-83A1-F6EECF244321}">
                <p14:modId xmlns:p14="http://schemas.microsoft.com/office/powerpoint/2010/main" val="1365447219"/>
              </p:ext>
            </p:extLst>
          </p:nvPr>
        </p:nvGraphicFramePr>
        <p:xfrm>
          <a:off x="946204" y="1852654"/>
          <a:ext cx="9978887" cy="2894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a:extLst>
              <a:ext uri="{FF2B5EF4-FFF2-40B4-BE49-F238E27FC236}">
                <a16:creationId xmlns:a16="http://schemas.microsoft.com/office/drawing/2014/main" id="{BC3834AC-03C3-4396-A27B-2F32CAB917AD}"/>
              </a:ext>
            </a:extLst>
          </p:cNvPr>
          <p:cNvSpPr/>
          <p:nvPr/>
        </p:nvSpPr>
        <p:spPr>
          <a:xfrm>
            <a:off x="1410031" y="5391143"/>
            <a:ext cx="8807394" cy="1015663"/>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Customer reviews from the </a:t>
            </a:r>
            <a:r>
              <a:rPr lang="en-US" sz="2000" dirty="0" err="1">
                <a:latin typeface="Times New Roman" panose="02020603050405020304" pitchFamily="18" charset="0"/>
                <a:cs typeface="Times New Roman" panose="02020603050405020304" pitchFamily="18" charset="0"/>
              </a:rPr>
              <a:t>Haatso</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Tema</a:t>
            </a:r>
            <a:r>
              <a:rPr lang="en-US" sz="2000" dirty="0">
                <a:latin typeface="Times New Roman" panose="02020603050405020304" pitchFamily="18" charset="0"/>
                <a:cs typeface="Times New Roman" panose="02020603050405020304" pitchFamily="18" charset="0"/>
              </a:rPr>
              <a:t> branches were collected, cleaned, analyzed using sentiment analysis techniques, and evaluated to identify customer satisfaction drivers and improvement opportunities.</a:t>
            </a:r>
          </a:p>
        </p:txBody>
      </p:sp>
    </p:spTree>
    <p:extLst>
      <p:ext uri="{BB962C8B-B14F-4D97-AF65-F5344CB8AC3E}">
        <p14:creationId xmlns:p14="http://schemas.microsoft.com/office/powerpoint/2010/main" val="748060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D4290-B201-4810-8E25-30ACD8CC127E}"/>
              </a:ext>
            </a:extLst>
          </p:cNvPr>
          <p:cNvSpPr>
            <a:spLocks noGrp="1"/>
          </p:cNvSpPr>
          <p:nvPr>
            <p:ph type="title"/>
          </p:nvPr>
        </p:nvSpPr>
        <p:spPr>
          <a:xfrm>
            <a:off x="1097280" y="270037"/>
            <a:ext cx="9788055" cy="682427"/>
          </a:xfrm>
        </p:spPr>
        <p:txBody>
          <a:bodyPr>
            <a:normAutofit/>
          </a:bodyPr>
          <a:lstStyle/>
          <a:p>
            <a:pPr algn="ctr"/>
            <a:r>
              <a:rPr lang="en-US" sz="2800" dirty="0">
                <a:latin typeface="Times New Roman" panose="02020603050405020304" pitchFamily="18" charset="0"/>
                <a:cs typeface="Times New Roman" panose="02020603050405020304" pitchFamily="18" charset="0"/>
              </a:rPr>
              <a:t>OVERALL CUSTOMER SENTIMENT</a:t>
            </a:r>
          </a:p>
        </p:txBody>
      </p:sp>
      <p:sp>
        <p:nvSpPr>
          <p:cNvPr id="6" name="Rectangle 1">
            <a:extLst>
              <a:ext uri="{FF2B5EF4-FFF2-40B4-BE49-F238E27FC236}">
                <a16:creationId xmlns:a16="http://schemas.microsoft.com/office/drawing/2014/main" id="{DF43ED28-A65A-441E-B518-AD2C1776B217}"/>
              </a:ext>
            </a:extLst>
          </p:cNvPr>
          <p:cNvSpPr>
            <a:spLocks noChangeArrowheads="1"/>
          </p:cNvSpPr>
          <p:nvPr/>
        </p:nvSpPr>
        <p:spPr bwMode="auto">
          <a:xfrm>
            <a:off x="6989195" y="1596204"/>
            <a:ext cx="3066553"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Findings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Positive Reviews: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61.19%</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Neutral Reviews: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15.67%</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Negative Reviews: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23.13%</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237D45F4-4A8D-4FA4-97FC-E0E0D40E6C5F}"/>
              </a:ext>
            </a:extLst>
          </p:cNvPr>
          <p:cNvSpPr>
            <a:spLocks noChangeArrowheads="1"/>
          </p:cNvSpPr>
          <p:nvPr/>
        </p:nvSpPr>
        <p:spPr bwMode="auto">
          <a:xfrm>
            <a:off x="6989195" y="2865975"/>
            <a:ext cx="4731277"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Interpretation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analysis revealed that customer sentiment toward Papaye Fast Foods is predominantly positive. More than six out of every ten reviews expressed favorable customer experiences, indicating generally strong customer satisfaction across the branches analyzed.</a:t>
            </a:r>
          </a:p>
        </p:txBody>
      </p:sp>
      <p:sp>
        <p:nvSpPr>
          <p:cNvPr id="10" name="Rectangle 5">
            <a:extLst>
              <a:ext uri="{FF2B5EF4-FFF2-40B4-BE49-F238E27FC236}">
                <a16:creationId xmlns:a16="http://schemas.microsoft.com/office/drawing/2014/main" id="{BB517150-B07F-4267-A618-BB5B60CD08A1}"/>
              </a:ext>
            </a:extLst>
          </p:cNvPr>
          <p:cNvSpPr>
            <a:spLocks noChangeArrowheads="1"/>
          </p:cNvSpPr>
          <p:nvPr/>
        </p:nvSpPr>
        <p:spPr bwMode="auto">
          <a:xfrm>
            <a:off x="6989195" y="4856024"/>
            <a:ext cx="4495137"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Business Implication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While the majority of customers reported positive experiences, the presence of negative reviews highlights opportunities to improve service consistency and operational efficiency.</a:t>
            </a:r>
          </a:p>
        </p:txBody>
      </p:sp>
      <p:pic>
        <p:nvPicPr>
          <p:cNvPr id="13" name="Content Placeholder 12">
            <a:extLst>
              <a:ext uri="{FF2B5EF4-FFF2-40B4-BE49-F238E27FC236}">
                <a16:creationId xmlns:a16="http://schemas.microsoft.com/office/drawing/2014/main" id="{B35B245A-0C82-4520-8776-C69E33E6072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674551"/>
            <a:ext cx="6148307" cy="4351338"/>
          </a:xfrm>
        </p:spPr>
      </p:pic>
    </p:spTree>
    <p:extLst>
      <p:ext uri="{BB962C8B-B14F-4D97-AF65-F5344CB8AC3E}">
        <p14:creationId xmlns:p14="http://schemas.microsoft.com/office/powerpoint/2010/main" val="3587268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BC828-7871-4EDF-944B-8A27EB9B04EE}"/>
              </a:ext>
            </a:extLst>
          </p:cNvPr>
          <p:cNvSpPr>
            <a:spLocks noGrp="1"/>
          </p:cNvSpPr>
          <p:nvPr>
            <p:ph type="title"/>
          </p:nvPr>
        </p:nvSpPr>
        <p:spPr>
          <a:xfrm>
            <a:off x="838200" y="365125"/>
            <a:ext cx="10515600" cy="577105"/>
          </a:xfrm>
        </p:spPr>
        <p:txBody>
          <a:bodyPr>
            <a:noAutofit/>
          </a:bodyPr>
          <a:lstStyle/>
          <a:p>
            <a:pPr algn="ctr"/>
            <a:r>
              <a:rPr lang="en-US" sz="2800" dirty="0">
                <a:latin typeface="Times New Roman" panose="02020603050405020304" pitchFamily="18" charset="0"/>
                <a:cs typeface="Times New Roman" panose="02020603050405020304" pitchFamily="18" charset="0"/>
              </a:rPr>
              <a:t>BRANCH SENTIMENT COMPARISON</a:t>
            </a:r>
            <a:endParaRPr lang="en-US" sz="2800" dirty="0"/>
          </a:p>
        </p:txBody>
      </p:sp>
      <p:graphicFrame>
        <p:nvGraphicFramePr>
          <p:cNvPr id="3" name="Chart 2">
            <a:extLst>
              <a:ext uri="{FF2B5EF4-FFF2-40B4-BE49-F238E27FC236}">
                <a16:creationId xmlns:a16="http://schemas.microsoft.com/office/drawing/2014/main" id="{56360A01-6DAC-47DF-9929-D3957339169D}"/>
              </a:ext>
            </a:extLst>
          </p:cNvPr>
          <p:cNvGraphicFramePr>
            <a:graphicFrameLocks/>
          </p:cNvGraphicFramePr>
          <p:nvPr>
            <p:extLst>
              <p:ext uri="{D42A27DB-BD31-4B8C-83A1-F6EECF244321}">
                <p14:modId xmlns:p14="http://schemas.microsoft.com/office/powerpoint/2010/main" val="2009996516"/>
              </p:ext>
            </p:extLst>
          </p:nvPr>
        </p:nvGraphicFramePr>
        <p:xfrm>
          <a:off x="103367" y="1309024"/>
          <a:ext cx="6925586" cy="4606745"/>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a:extLst>
              <a:ext uri="{FF2B5EF4-FFF2-40B4-BE49-F238E27FC236}">
                <a16:creationId xmlns:a16="http://schemas.microsoft.com/office/drawing/2014/main" id="{89856991-CDA9-45C0-B5D6-027A11D775CD}"/>
              </a:ext>
            </a:extLst>
          </p:cNvPr>
          <p:cNvSpPr/>
          <p:nvPr/>
        </p:nvSpPr>
        <p:spPr>
          <a:xfrm>
            <a:off x="7317850" y="1883193"/>
            <a:ext cx="4874150" cy="3754874"/>
          </a:xfrm>
          <a:prstGeom prst="rect">
            <a:avLst/>
          </a:prstGeom>
        </p:spPr>
        <p:txBody>
          <a:bodyPr wrap="square">
            <a:spAutoFit/>
          </a:bodyPr>
          <a:lstStyle/>
          <a:p>
            <a:r>
              <a:rPr lang="en-US" sz="1400" b="1" u="sng" dirty="0">
                <a:latin typeface="Times New Roman" panose="02020603050405020304" pitchFamily="18" charset="0"/>
                <a:cs typeface="Times New Roman" panose="02020603050405020304" pitchFamily="18" charset="0"/>
              </a:rPr>
              <a:t>Key Insight</a:t>
            </a:r>
          </a:p>
          <a:p>
            <a:r>
              <a:rPr lang="en-US" sz="1400" dirty="0">
                <a:latin typeface="Times New Roman" panose="02020603050405020304" pitchFamily="18" charset="0"/>
                <a:cs typeface="Times New Roman" panose="02020603050405020304" pitchFamily="18" charset="0"/>
              </a:rPr>
              <a:t>Both branches achieved predominantly positive customer sentiment. However, the </a:t>
            </a:r>
            <a:r>
              <a:rPr lang="en-US" sz="1400" dirty="0" err="1">
                <a:latin typeface="Times New Roman" panose="02020603050405020304" pitchFamily="18" charset="0"/>
                <a:cs typeface="Times New Roman" panose="02020603050405020304" pitchFamily="18" charset="0"/>
              </a:rPr>
              <a:t>Tema</a:t>
            </a:r>
            <a:r>
              <a:rPr lang="en-US" sz="1400" dirty="0">
                <a:latin typeface="Times New Roman" panose="02020603050405020304" pitchFamily="18" charset="0"/>
                <a:cs typeface="Times New Roman" panose="02020603050405020304" pitchFamily="18" charset="0"/>
              </a:rPr>
              <a:t> branch recorded a higher proportion of negative reviews (28.6%) compared to the </a:t>
            </a:r>
            <a:r>
              <a:rPr lang="en-US" sz="1400" dirty="0" err="1">
                <a:latin typeface="Times New Roman" panose="02020603050405020304" pitchFamily="18" charset="0"/>
                <a:cs typeface="Times New Roman" panose="02020603050405020304" pitchFamily="18" charset="0"/>
              </a:rPr>
              <a:t>Haatso</a:t>
            </a:r>
            <a:r>
              <a:rPr lang="en-US" sz="1400" dirty="0">
                <a:latin typeface="Times New Roman" panose="02020603050405020304" pitchFamily="18" charset="0"/>
                <a:cs typeface="Times New Roman" panose="02020603050405020304" pitchFamily="18" charset="0"/>
              </a:rPr>
              <a:t> branch (21.4%), suggesting greater customer dissatisfaction with certain aspects of the customer experience.</a:t>
            </a: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r>
              <a:rPr lang="en-US" sz="1400" b="1" u="sng" dirty="0">
                <a:latin typeface="Times New Roman" panose="02020603050405020304" pitchFamily="18" charset="0"/>
                <a:cs typeface="Times New Roman" panose="02020603050405020304" pitchFamily="18" charset="0"/>
              </a:rPr>
              <a:t>Business Implication</a:t>
            </a:r>
          </a:p>
          <a:p>
            <a:r>
              <a:rPr lang="en-US" sz="1400" dirty="0">
                <a:latin typeface="Times New Roman" panose="02020603050405020304" pitchFamily="18" charset="0"/>
                <a:cs typeface="Times New Roman" panose="02020603050405020304" pitchFamily="18" charset="0"/>
              </a:rPr>
              <a:t>Reducing operational issues and improving service consistency at the </a:t>
            </a:r>
            <a:r>
              <a:rPr lang="en-US" sz="1400" dirty="0" err="1">
                <a:latin typeface="Times New Roman" panose="02020603050405020304" pitchFamily="18" charset="0"/>
                <a:cs typeface="Times New Roman" panose="02020603050405020304" pitchFamily="18" charset="0"/>
              </a:rPr>
              <a:t>Tema</a:t>
            </a:r>
            <a:r>
              <a:rPr lang="en-US" sz="1400" dirty="0">
                <a:latin typeface="Times New Roman" panose="02020603050405020304" pitchFamily="18" charset="0"/>
                <a:cs typeface="Times New Roman" panose="02020603050405020304" pitchFamily="18" charset="0"/>
              </a:rPr>
              <a:t> branch may help improve customer perception and reduce negative customer experiences.</a:t>
            </a:r>
          </a:p>
        </p:txBody>
      </p:sp>
    </p:spTree>
    <p:extLst>
      <p:ext uri="{BB962C8B-B14F-4D97-AF65-F5344CB8AC3E}">
        <p14:creationId xmlns:p14="http://schemas.microsoft.com/office/powerpoint/2010/main" val="666161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F5E64-622D-43CE-89A1-04728A59BB66}"/>
              </a:ext>
            </a:extLst>
          </p:cNvPr>
          <p:cNvSpPr>
            <a:spLocks noGrp="1"/>
          </p:cNvSpPr>
          <p:nvPr>
            <p:ph type="title"/>
          </p:nvPr>
        </p:nvSpPr>
        <p:spPr/>
        <p:txBody>
          <a:bodyPr>
            <a:normAutofit/>
          </a:bodyPr>
          <a:lstStyle/>
          <a:p>
            <a:pPr algn="ctr"/>
            <a:r>
              <a:rPr lang="en-US" sz="3600" dirty="0">
                <a:latin typeface="Times New Roman" panose="02020603050405020304" pitchFamily="18" charset="0"/>
                <a:cs typeface="Times New Roman" panose="02020603050405020304" pitchFamily="18" charset="0"/>
              </a:rPr>
              <a:t>BRANCH PERFORMANCE RATINGS</a:t>
            </a:r>
          </a:p>
        </p:txBody>
      </p:sp>
      <p:pic>
        <p:nvPicPr>
          <p:cNvPr id="6" name="Picture 5">
            <a:extLst>
              <a:ext uri="{FF2B5EF4-FFF2-40B4-BE49-F238E27FC236}">
                <a16:creationId xmlns:a16="http://schemas.microsoft.com/office/drawing/2014/main" id="{7A598EEC-0820-4AB3-86F3-4A6078147123}"/>
              </a:ext>
            </a:extLst>
          </p:cNvPr>
          <p:cNvPicPr>
            <a:picLocks noChangeAspect="1"/>
          </p:cNvPicPr>
          <p:nvPr/>
        </p:nvPicPr>
        <p:blipFill>
          <a:blip r:embed="rId2"/>
          <a:stretch>
            <a:fillRect/>
          </a:stretch>
        </p:blipFill>
        <p:spPr>
          <a:xfrm>
            <a:off x="247616" y="1367624"/>
            <a:ext cx="5620447" cy="4004098"/>
          </a:xfrm>
          <a:prstGeom prst="rect">
            <a:avLst/>
          </a:prstGeom>
        </p:spPr>
      </p:pic>
      <p:sp>
        <p:nvSpPr>
          <p:cNvPr id="7" name="Content Placeholder 6">
            <a:extLst>
              <a:ext uri="{FF2B5EF4-FFF2-40B4-BE49-F238E27FC236}">
                <a16:creationId xmlns:a16="http://schemas.microsoft.com/office/drawing/2014/main" id="{F235C062-A8C3-468B-A6D3-36040C79352A}"/>
              </a:ext>
            </a:extLst>
          </p:cNvPr>
          <p:cNvSpPr>
            <a:spLocks noGrp="1"/>
          </p:cNvSpPr>
          <p:nvPr>
            <p:ph idx="1"/>
          </p:nvPr>
        </p:nvSpPr>
        <p:spPr>
          <a:xfrm>
            <a:off x="6077447" y="1594802"/>
            <a:ext cx="6016487" cy="4010868"/>
          </a:xfrm>
        </p:spPr>
        <p:txBody>
          <a:bodyPr>
            <a:normAutofit fontScale="85000" lnSpcReduction="10000"/>
          </a:bodyPr>
          <a:lstStyle/>
          <a:p>
            <a:pPr marL="0" indent="0">
              <a:buNone/>
            </a:pPr>
            <a:r>
              <a:rPr lang="en-US" sz="1400" dirty="0">
                <a:latin typeface="Times New Roman" panose="02020603050405020304" pitchFamily="18" charset="0"/>
                <a:cs typeface="Times New Roman" panose="02020603050405020304" pitchFamily="18" charset="0"/>
              </a:rPr>
              <a:t>     </a:t>
            </a:r>
            <a:r>
              <a:rPr lang="en-US" sz="1400" b="1" u="sng" dirty="0">
                <a:latin typeface="Times New Roman" panose="02020603050405020304" pitchFamily="18" charset="0"/>
                <a:cs typeface="Times New Roman" panose="02020603050405020304" pitchFamily="18" charset="0"/>
              </a:rPr>
              <a:t>Key Insight</a:t>
            </a:r>
          </a:p>
          <a:p>
            <a:pPr>
              <a:lnSpc>
                <a:spcPct val="160000"/>
              </a:lnSpc>
            </a:pPr>
            <a:r>
              <a:rPr lang="en-US" sz="1400" dirty="0" err="1">
                <a:latin typeface="Times New Roman" panose="02020603050405020304" pitchFamily="18" charset="0"/>
                <a:cs typeface="Times New Roman" panose="02020603050405020304" pitchFamily="18" charset="0"/>
              </a:rPr>
              <a:t>Haatso</a:t>
            </a:r>
            <a:r>
              <a:rPr lang="en-US" sz="1400" dirty="0">
                <a:latin typeface="Times New Roman" panose="02020603050405020304" pitchFamily="18" charset="0"/>
                <a:cs typeface="Times New Roman" panose="02020603050405020304" pitchFamily="18" charset="0"/>
              </a:rPr>
              <a:t> consistently achieved higher customer ratings across all evaluated </a:t>
            </a:r>
            <a:r>
              <a:rPr lang="en-US" sz="1400" dirty="0" err="1">
                <a:latin typeface="Times New Roman" panose="02020603050405020304" pitchFamily="18" charset="0"/>
                <a:cs typeface="Times New Roman" panose="02020603050405020304" pitchFamily="18" charset="0"/>
              </a:rPr>
              <a:t>dimensions.The</a:t>
            </a:r>
            <a:r>
              <a:rPr lang="en-US" sz="1400" dirty="0">
                <a:latin typeface="Times New Roman" panose="02020603050405020304" pitchFamily="18" charset="0"/>
                <a:cs typeface="Times New Roman" panose="02020603050405020304" pitchFamily="18" charset="0"/>
              </a:rPr>
              <a:t> largest performance gap was observed in service quality, suggesting that operational execution may be contributing to lower customer satisfaction at the </a:t>
            </a:r>
            <a:r>
              <a:rPr lang="en-US" sz="1400" dirty="0" err="1">
                <a:latin typeface="Times New Roman" panose="02020603050405020304" pitchFamily="18" charset="0"/>
                <a:cs typeface="Times New Roman" panose="02020603050405020304" pitchFamily="18" charset="0"/>
              </a:rPr>
              <a:t>Tema</a:t>
            </a:r>
            <a:r>
              <a:rPr lang="en-US" sz="1400" dirty="0">
                <a:latin typeface="Times New Roman" panose="02020603050405020304" pitchFamily="18" charset="0"/>
                <a:cs typeface="Times New Roman" panose="02020603050405020304" pitchFamily="18" charset="0"/>
              </a:rPr>
              <a:t> branch.</a:t>
            </a:r>
          </a:p>
          <a:p>
            <a:pPr marL="0" indent="0">
              <a:buNone/>
            </a:pPr>
            <a:r>
              <a:rPr lang="en-US" sz="1400" dirty="0">
                <a:latin typeface="Times New Roman" panose="02020603050405020304" pitchFamily="18" charset="0"/>
                <a:cs typeface="Times New Roman" panose="02020603050405020304" pitchFamily="18" charset="0"/>
              </a:rPr>
              <a:t>     </a:t>
            </a:r>
            <a:r>
              <a:rPr lang="en-US" sz="1400" b="1" u="sng" dirty="0">
                <a:latin typeface="Times New Roman" panose="02020603050405020304" pitchFamily="18" charset="0"/>
                <a:cs typeface="Times New Roman" panose="02020603050405020304" pitchFamily="18" charset="0"/>
              </a:rPr>
              <a:t>Key Findings</a:t>
            </a:r>
          </a:p>
          <a:p>
            <a:r>
              <a:rPr lang="en-US" sz="1400" dirty="0" err="1">
                <a:latin typeface="Times New Roman" panose="02020603050405020304" pitchFamily="18" charset="0"/>
                <a:cs typeface="Times New Roman" panose="02020603050405020304" pitchFamily="18" charset="0"/>
              </a:rPr>
              <a:t>Haatso</a:t>
            </a:r>
            <a:r>
              <a:rPr lang="en-US" sz="1400" dirty="0">
                <a:latin typeface="Times New Roman" panose="02020603050405020304" pitchFamily="18" charset="0"/>
                <a:cs typeface="Times New Roman" panose="02020603050405020304" pitchFamily="18" charset="0"/>
              </a:rPr>
              <a:t> recorded higher ratings across all four categories.</a:t>
            </a:r>
          </a:p>
          <a:p>
            <a:r>
              <a:rPr lang="en-US" sz="1400" dirty="0">
                <a:latin typeface="Times New Roman" panose="02020603050405020304" pitchFamily="18" charset="0"/>
                <a:cs typeface="Times New Roman" panose="02020603050405020304" pitchFamily="18" charset="0"/>
              </a:rPr>
              <a:t>Atmosphere received the highest ratings at both branches.</a:t>
            </a:r>
          </a:p>
          <a:p>
            <a:r>
              <a:rPr lang="en-US" sz="1400" dirty="0">
                <a:latin typeface="Times New Roman" panose="02020603050405020304" pitchFamily="18" charset="0"/>
                <a:cs typeface="Times New Roman" panose="02020603050405020304" pitchFamily="18" charset="0"/>
              </a:rPr>
              <a:t>Service quality received the lowest average ratings.</a:t>
            </a:r>
          </a:p>
          <a:p>
            <a:r>
              <a:rPr lang="en-US" sz="1400" dirty="0">
                <a:latin typeface="Times New Roman" panose="02020603050405020304" pitchFamily="18" charset="0"/>
                <a:cs typeface="Times New Roman" panose="02020603050405020304" pitchFamily="18" charset="0"/>
              </a:rPr>
              <a:t>The rating results closely align with the sentiment analysis findings.</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rPr>
              <a:t>      </a:t>
            </a:r>
            <a:r>
              <a:rPr lang="en-US" sz="1400" b="1" u="sng" dirty="0">
                <a:latin typeface="Times New Roman" panose="02020603050405020304" pitchFamily="18" charset="0"/>
                <a:cs typeface="Times New Roman" panose="02020603050405020304" pitchFamily="18" charset="0"/>
              </a:rPr>
              <a:t>Business Implication</a:t>
            </a:r>
          </a:p>
          <a:p>
            <a:pPr>
              <a:lnSpc>
                <a:spcPct val="170000"/>
              </a:lnSpc>
            </a:pPr>
            <a:r>
              <a:rPr lang="en-US" sz="1400" dirty="0">
                <a:latin typeface="Times New Roman" panose="02020603050405020304" pitchFamily="18" charset="0"/>
                <a:cs typeface="Times New Roman" panose="02020603050405020304" pitchFamily="18" charset="0"/>
              </a:rPr>
              <a:t>Improving service efficiency and customer interactions may represent the greatest opportunity for enhancing customer satisfaction, particularly at the </a:t>
            </a:r>
            <a:r>
              <a:rPr lang="en-US" sz="1400" dirty="0" err="1">
                <a:latin typeface="Times New Roman" panose="02020603050405020304" pitchFamily="18" charset="0"/>
                <a:cs typeface="Times New Roman" panose="02020603050405020304" pitchFamily="18" charset="0"/>
              </a:rPr>
              <a:t>Tema</a:t>
            </a:r>
            <a:r>
              <a:rPr lang="en-US" sz="1400" dirty="0">
                <a:latin typeface="Times New Roman" panose="02020603050405020304" pitchFamily="18" charset="0"/>
                <a:cs typeface="Times New Roman" panose="02020603050405020304" pitchFamily="18" charset="0"/>
              </a:rPr>
              <a:t> branch.</a:t>
            </a:r>
          </a:p>
        </p:txBody>
      </p:sp>
      <p:sp>
        <p:nvSpPr>
          <p:cNvPr id="8" name="Rectangle 7">
            <a:extLst>
              <a:ext uri="{FF2B5EF4-FFF2-40B4-BE49-F238E27FC236}">
                <a16:creationId xmlns:a16="http://schemas.microsoft.com/office/drawing/2014/main" id="{B9275064-2AAD-4B79-ABF1-67B472C759C2}"/>
              </a:ext>
            </a:extLst>
          </p:cNvPr>
          <p:cNvSpPr/>
          <p:nvPr/>
        </p:nvSpPr>
        <p:spPr>
          <a:xfrm>
            <a:off x="127221" y="6492875"/>
            <a:ext cx="8698725" cy="276999"/>
          </a:xfrm>
          <a:prstGeom prst="rect">
            <a:avLst/>
          </a:prstGeom>
        </p:spPr>
        <p:txBody>
          <a:bodyPr wrap="square">
            <a:spAutoFit/>
          </a:bodyPr>
          <a:lstStyle/>
          <a:p>
            <a:r>
              <a:rPr lang="en-US" sz="1200" i="1" dirty="0">
                <a:latin typeface="Times New Roman" panose="02020603050405020304" pitchFamily="18" charset="0"/>
                <a:cs typeface="Times New Roman" panose="02020603050405020304" pitchFamily="18" charset="0"/>
              </a:rPr>
              <a:t>Ratings represent customer evaluations extracted from publicly available review data.</a:t>
            </a:r>
          </a:p>
        </p:txBody>
      </p:sp>
    </p:spTree>
    <p:extLst>
      <p:ext uri="{BB962C8B-B14F-4D97-AF65-F5344CB8AC3E}">
        <p14:creationId xmlns:p14="http://schemas.microsoft.com/office/powerpoint/2010/main" val="1727627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F3DAE-1ED2-41B2-B2C6-2011FC3409BE}"/>
              </a:ext>
            </a:extLst>
          </p:cNvPr>
          <p:cNvSpPr>
            <a:spLocks noGrp="1"/>
          </p:cNvSpPr>
          <p:nvPr>
            <p:ph type="title"/>
          </p:nvPr>
        </p:nvSpPr>
        <p:spPr>
          <a:xfrm>
            <a:off x="437322" y="1"/>
            <a:ext cx="11147066" cy="985962"/>
          </a:xfrm>
        </p:spPr>
        <p:txBody>
          <a:bodyPr>
            <a:normAutofit/>
          </a:bodyPr>
          <a:lstStyle/>
          <a:p>
            <a:pPr algn="ctr"/>
            <a:r>
              <a:rPr lang="en-US" sz="2800" dirty="0">
                <a:latin typeface="Times New Roman" panose="02020603050405020304" pitchFamily="18" charset="0"/>
                <a:cs typeface="Times New Roman" panose="02020603050405020304" pitchFamily="18" charset="0"/>
              </a:rPr>
              <a:t>KEY CUSTOMER SATISFACTION DRIVERS</a:t>
            </a:r>
            <a:br>
              <a:rPr lang="en-US" sz="3600" dirty="0">
                <a:latin typeface="Times New Roman" panose="02020603050405020304" pitchFamily="18" charset="0"/>
                <a:cs typeface="Times New Roman" panose="02020603050405020304" pitchFamily="18" charset="0"/>
              </a:rPr>
            </a:br>
            <a:r>
              <a:rPr lang="en-US" sz="1200" i="1" dirty="0">
                <a:latin typeface="Times New Roman" panose="02020603050405020304" pitchFamily="18" charset="0"/>
                <a:cs typeface="Times New Roman" panose="02020603050405020304" pitchFamily="18" charset="0"/>
              </a:rPr>
              <a:t>Customer reviews revealed several recurring themes that drive customer satisfaction and strengthen overall brand perception</a:t>
            </a:r>
            <a:r>
              <a:rPr lang="en-US" sz="1200" dirty="0"/>
              <a:t>.</a:t>
            </a:r>
            <a:endParaRPr lang="en-US" sz="1600" i="1" dirty="0">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BBCE25F0-DB4A-4EA4-A53D-9C541E175C3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3879690"/>
            <a:ext cx="5740843" cy="3125409"/>
          </a:xfrm>
        </p:spPr>
      </p:pic>
      <p:sp>
        <p:nvSpPr>
          <p:cNvPr id="10" name="Rectangle 9">
            <a:extLst>
              <a:ext uri="{FF2B5EF4-FFF2-40B4-BE49-F238E27FC236}">
                <a16:creationId xmlns:a16="http://schemas.microsoft.com/office/drawing/2014/main" id="{D5129119-98A4-4D94-AC39-53CB7854E3DD}"/>
              </a:ext>
            </a:extLst>
          </p:cNvPr>
          <p:cNvSpPr/>
          <p:nvPr/>
        </p:nvSpPr>
        <p:spPr>
          <a:xfrm>
            <a:off x="5218706" y="1270943"/>
            <a:ext cx="6096000" cy="700000"/>
          </a:xfrm>
          <a:prstGeom prst="rect">
            <a:avLst/>
          </a:prstGeom>
        </p:spPr>
        <p:txBody>
          <a:bodyPr>
            <a:spAutoFit/>
          </a:bodyPr>
          <a:lstStyle/>
          <a:p>
            <a:pPr marL="285750" indent="-285750">
              <a:lnSpc>
                <a:spcPct val="150000"/>
              </a:lnSpc>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p:txBody>
      </p:sp>
      <p:sp>
        <p:nvSpPr>
          <p:cNvPr id="11" name="Speech Bubble: Oval 10">
            <a:extLst>
              <a:ext uri="{FF2B5EF4-FFF2-40B4-BE49-F238E27FC236}">
                <a16:creationId xmlns:a16="http://schemas.microsoft.com/office/drawing/2014/main" id="{237BAF70-4764-42EC-88CA-E798387B7ADE}"/>
              </a:ext>
            </a:extLst>
          </p:cNvPr>
          <p:cNvSpPr/>
          <p:nvPr/>
        </p:nvSpPr>
        <p:spPr>
          <a:xfrm>
            <a:off x="6520069" y="883314"/>
            <a:ext cx="3904091" cy="2389915"/>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u="sng" dirty="0">
                <a:latin typeface="Times New Roman" panose="02020603050405020304" pitchFamily="18" charset="0"/>
                <a:cs typeface="Times New Roman" panose="02020603050405020304" pitchFamily="18" charset="0"/>
              </a:rPr>
              <a:t>Key Insight</a:t>
            </a:r>
          </a:p>
          <a:p>
            <a:pPr algn="ctr"/>
            <a:endParaRPr lang="en-US" sz="1200" b="1" u="sng"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Food quality remains the strongest driver of customer satisfaction, with customers frequently praising the fried chicken, grilled chicken, and fried rice offerings.</a:t>
            </a:r>
          </a:p>
          <a:p>
            <a:r>
              <a:rPr lang="en-US" sz="1200" dirty="0">
                <a:latin typeface="Times New Roman" panose="02020603050405020304" pitchFamily="18" charset="0"/>
                <a:cs typeface="Times New Roman" panose="02020603050405020304" pitchFamily="18" charset="0"/>
              </a:rPr>
              <a:t>The restaurant atmosphere, convenient parking facilities, and strong brand reputation also contribute positively to the overall customer experience.</a:t>
            </a:r>
          </a:p>
        </p:txBody>
      </p:sp>
      <p:sp>
        <p:nvSpPr>
          <p:cNvPr id="12" name="Speech Bubble: Rectangle with Corners Rounded 11">
            <a:extLst>
              <a:ext uri="{FF2B5EF4-FFF2-40B4-BE49-F238E27FC236}">
                <a16:creationId xmlns:a16="http://schemas.microsoft.com/office/drawing/2014/main" id="{857C52FF-15BB-4695-849F-9A4529BA16A0}"/>
              </a:ext>
            </a:extLst>
          </p:cNvPr>
          <p:cNvSpPr/>
          <p:nvPr/>
        </p:nvSpPr>
        <p:spPr>
          <a:xfrm>
            <a:off x="9144000" y="3584770"/>
            <a:ext cx="2902226" cy="1599481"/>
          </a:xfrm>
          <a:prstGeom prst="wedgeRound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u="sng" dirty="0">
                <a:latin typeface="Times New Roman" panose="02020603050405020304" pitchFamily="18" charset="0"/>
                <a:cs typeface="Times New Roman" panose="02020603050405020304" pitchFamily="18" charset="0"/>
              </a:rPr>
              <a:t>Representative Customer Comments</a:t>
            </a:r>
          </a:p>
          <a:p>
            <a:pPr algn="ctr"/>
            <a:endParaRPr lang="en-US" sz="1200" b="1" u="sng"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“Papaye never disappoints.”</a:t>
            </a:r>
          </a:p>
          <a:p>
            <a:r>
              <a:rPr lang="en-US" sz="1200" dirty="0">
                <a:latin typeface="Times New Roman" panose="02020603050405020304" pitchFamily="18" charset="0"/>
                <a:cs typeface="Times New Roman" panose="02020603050405020304" pitchFamily="18" charset="0"/>
              </a:rPr>
              <a:t>“Fast delivery, generous portions and tasty food.”</a:t>
            </a:r>
          </a:p>
          <a:p>
            <a:r>
              <a:rPr lang="en-US" sz="1200" dirty="0">
                <a:latin typeface="Times New Roman" panose="02020603050405020304" pitchFamily="18" charset="0"/>
                <a:cs typeface="Times New Roman" panose="02020603050405020304" pitchFamily="18" charset="0"/>
              </a:rPr>
              <a:t>“Beautiful restaurant and family friendly.”</a:t>
            </a:r>
          </a:p>
        </p:txBody>
      </p:sp>
      <p:sp>
        <p:nvSpPr>
          <p:cNvPr id="13" name="Speech Bubble: Oval 12">
            <a:extLst>
              <a:ext uri="{FF2B5EF4-FFF2-40B4-BE49-F238E27FC236}">
                <a16:creationId xmlns:a16="http://schemas.microsoft.com/office/drawing/2014/main" id="{6AC6BE91-879A-42E6-BACE-99A6A40D08D4}"/>
              </a:ext>
            </a:extLst>
          </p:cNvPr>
          <p:cNvSpPr/>
          <p:nvPr/>
        </p:nvSpPr>
        <p:spPr>
          <a:xfrm>
            <a:off x="6010855" y="3863586"/>
            <a:ext cx="2902226" cy="2641330"/>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u="sng" dirty="0">
                <a:latin typeface="Times New Roman" panose="02020603050405020304" pitchFamily="18" charset="0"/>
                <a:cs typeface="Times New Roman" panose="02020603050405020304" pitchFamily="18" charset="0"/>
              </a:rPr>
              <a:t>Business Implication</a:t>
            </a:r>
          </a:p>
          <a:p>
            <a:pPr algn="ctr"/>
            <a:endParaRPr lang="en-US" sz="1200" b="1" u="sng" dirty="0">
              <a:latin typeface="Times New Roman" panose="02020603050405020304" pitchFamily="18" charset="0"/>
              <a:cs typeface="Times New Roman" panose="02020603050405020304" pitchFamily="18" charset="0"/>
            </a:endParaRPr>
          </a:p>
          <a:p>
            <a:r>
              <a:rPr lang="en-US" sz="1200" dirty="0"/>
              <a:t>The findings suggest that food quality, customer experience, and brand reputation are important competitive strengths that should be maintained and consistently reinforced across all branches.</a:t>
            </a:r>
            <a:endParaRPr lang="en-US" sz="1200" dirty="0">
              <a:latin typeface="Times New Roman" panose="02020603050405020304" pitchFamily="18" charset="0"/>
              <a:cs typeface="Times New Roman" panose="02020603050405020304" pitchFamily="18" charset="0"/>
            </a:endParaRPr>
          </a:p>
        </p:txBody>
      </p:sp>
      <p:graphicFrame>
        <p:nvGraphicFramePr>
          <p:cNvPr id="14" name="Table 13">
            <a:extLst>
              <a:ext uri="{FF2B5EF4-FFF2-40B4-BE49-F238E27FC236}">
                <a16:creationId xmlns:a16="http://schemas.microsoft.com/office/drawing/2014/main" id="{D2B77145-5A3B-4501-8E01-3CDC300D2B1B}"/>
              </a:ext>
            </a:extLst>
          </p:cNvPr>
          <p:cNvGraphicFramePr>
            <a:graphicFrameLocks noGrp="1"/>
          </p:cNvGraphicFramePr>
          <p:nvPr>
            <p:extLst>
              <p:ext uri="{D42A27DB-BD31-4B8C-83A1-F6EECF244321}">
                <p14:modId xmlns:p14="http://schemas.microsoft.com/office/powerpoint/2010/main" val="3510617200"/>
              </p:ext>
            </p:extLst>
          </p:nvPr>
        </p:nvGraphicFramePr>
        <p:xfrm>
          <a:off x="145772" y="883314"/>
          <a:ext cx="5595070" cy="2633868"/>
        </p:xfrm>
        <a:graphic>
          <a:graphicData uri="http://schemas.openxmlformats.org/drawingml/2006/table">
            <a:tbl>
              <a:tblPr firstRow="1" bandRow="1">
                <a:tableStyleId>{5C22544A-7EE6-4342-B048-85BDC9FD1C3A}</a:tableStyleId>
              </a:tblPr>
              <a:tblGrid>
                <a:gridCol w="2797535">
                  <a:extLst>
                    <a:ext uri="{9D8B030D-6E8A-4147-A177-3AD203B41FA5}">
                      <a16:colId xmlns:a16="http://schemas.microsoft.com/office/drawing/2014/main" val="1245862085"/>
                    </a:ext>
                  </a:extLst>
                </a:gridCol>
                <a:gridCol w="2797535">
                  <a:extLst>
                    <a:ext uri="{9D8B030D-6E8A-4147-A177-3AD203B41FA5}">
                      <a16:colId xmlns:a16="http://schemas.microsoft.com/office/drawing/2014/main" val="2041878138"/>
                    </a:ext>
                  </a:extLst>
                </a:gridCol>
              </a:tblGrid>
              <a:tr h="362778">
                <a:tc>
                  <a:txBody>
                    <a:bodyPr/>
                    <a:lstStyle/>
                    <a:p>
                      <a:r>
                        <a:rPr lang="en-US" sz="1200" dirty="0">
                          <a:latin typeface="Times New Roman" panose="02020603050405020304" pitchFamily="18" charset="0"/>
                          <a:cs typeface="Times New Roman" panose="02020603050405020304" pitchFamily="18" charset="0"/>
                        </a:rPr>
                        <a:t>Customer Strengths</a:t>
                      </a:r>
                    </a:p>
                  </a:txBody>
                  <a:tcPr anchor="ctr"/>
                </a:tc>
                <a:tc>
                  <a:txBody>
                    <a:bodyPr/>
                    <a:lstStyle/>
                    <a:p>
                      <a:r>
                        <a:rPr lang="en-US" sz="1200">
                          <a:latin typeface="Times New Roman" panose="02020603050405020304" pitchFamily="18" charset="0"/>
                          <a:cs typeface="Times New Roman" panose="02020603050405020304" pitchFamily="18" charset="0"/>
                        </a:rPr>
                        <a:t>Customer Feedback</a:t>
                      </a:r>
                    </a:p>
                  </a:txBody>
                  <a:tcPr anchor="ctr"/>
                </a:tc>
                <a:extLst>
                  <a:ext uri="{0D108BD9-81ED-4DB2-BD59-A6C34878D82A}">
                    <a16:rowId xmlns:a16="http://schemas.microsoft.com/office/drawing/2014/main" val="106866837"/>
                  </a:ext>
                </a:extLst>
              </a:tr>
              <a:tr h="362778">
                <a:tc>
                  <a:txBody>
                    <a:bodyPr/>
                    <a:lstStyle/>
                    <a:p>
                      <a:r>
                        <a:rPr lang="en-US" sz="1200">
                          <a:latin typeface="Times New Roman" panose="02020603050405020304" pitchFamily="18" charset="0"/>
                          <a:cs typeface="Times New Roman" panose="02020603050405020304" pitchFamily="18" charset="0"/>
                        </a:rPr>
                        <a:t>🍗 Food Quality</a:t>
                      </a:r>
                    </a:p>
                  </a:txBody>
                  <a:tcPr anchor="ctr"/>
                </a:tc>
                <a:tc>
                  <a:txBody>
                    <a:bodyPr/>
                    <a:lstStyle/>
                    <a:p>
                      <a:r>
                        <a:rPr lang="en-US" sz="1200">
                          <a:latin typeface="Times New Roman" panose="02020603050405020304" pitchFamily="18" charset="0"/>
                          <a:cs typeface="Times New Roman" panose="02020603050405020304" pitchFamily="18" charset="0"/>
                        </a:rPr>
                        <a:t>Frequently praised across reviews</a:t>
                      </a:r>
                    </a:p>
                  </a:txBody>
                  <a:tcPr anchor="ctr"/>
                </a:tc>
                <a:extLst>
                  <a:ext uri="{0D108BD9-81ED-4DB2-BD59-A6C34878D82A}">
                    <a16:rowId xmlns:a16="http://schemas.microsoft.com/office/drawing/2014/main" val="2868865901"/>
                  </a:ext>
                </a:extLst>
              </a:tr>
              <a:tr h="362778">
                <a:tc>
                  <a:txBody>
                    <a:bodyPr/>
                    <a:lstStyle/>
                    <a:p>
                      <a:r>
                        <a:rPr lang="en-US" sz="1200" dirty="0">
                          <a:latin typeface="Times New Roman" panose="02020603050405020304" pitchFamily="18" charset="0"/>
                          <a:cs typeface="Times New Roman" panose="02020603050405020304" pitchFamily="18" charset="0"/>
                        </a:rPr>
                        <a:t>🍗 Fried &amp; Grilled Chicken</a:t>
                      </a:r>
                    </a:p>
                  </a:txBody>
                  <a:tcPr anchor="ctr"/>
                </a:tc>
                <a:tc>
                  <a:txBody>
                    <a:bodyPr/>
                    <a:lstStyle/>
                    <a:p>
                      <a:r>
                        <a:rPr lang="en-US" sz="1200">
                          <a:latin typeface="Times New Roman" panose="02020603050405020304" pitchFamily="18" charset="0"/>
                          <a:cs typeface="Times New Roman" panose="02020603050405020304" pitchFamily="18" charset="0"/>
                        </a:rPr>
                        <a:t>Most commonly mentioned menu items</a:t>
                      </a:r>
                    </a:p>
                  </a:txBody>
                  <a:tcPr anchor="ctr"/>
                </a:tc>
                <a:extLst>
                  <a:ext uri="{0D108BD9-81ED-4DB2-BD59-A6C34878D82A}">
                    <a16:rowId xmlns:a16="http://schemas.microsoft.com/office/drawing/2014/main" val="3863443401"/>
                  </a:ext>
                </a:extLst>
              </a:tr>
              <a:tr h="362778">
                <a:tc>
                  <a:txBody>
                    <a:bodyPr/>
                    <a:lstStyle/>
                    <a:p>
                      <a:r>
                        <a:rPr lang="en-US" sz="1200">
                          <a:latin typeface="Times New Roman" panose="02020603050405020304" pitchFamily="18" charset="0"/>
                          <a:cs typeface="Times New Roman" panose="02020603050405020304" pitchFamily="18" charset="0"/>
                        </a:rPr>
                        <a:t>🏡 Family-Friendly Atmosphere</a:t>
                      </a:r>
                    </a:p>
                  </a:txBody>
                  <a:tcPr anchor="ctr"/>
                </a:tc>
                <a:tc>
                  <a:txBody>
                    <a:bodyPr/>
                    <a:lstStyle/>
                    <a:p>
                      <a:r>
                        <a:rPr lang="en-US" sz="1200">
                          <a:latin typeface="Times New Roman" panose="02020603050405020304" pitchFamily="18" charset="0"/>
                          <a:cs typeface="Times New Roman" panose="02020603050405020304" pitchFamily="18" charset="0"/>
                        </a:rPr>
                        <a:t>Comfortable dining environment</a:t>
                      </a:r>
                    </a:p>
                  </a:txBody>
                  <a:tcPr anchor="ctr"/>
                </a:tc>
                <a:extLst>
                  <a:ext uri="{0D108BD9-81ED-4DB2-BD59-A6C34878D82A}">
                    <a16:rowId xmlns:a16="http://schemas.microsoft.com/office/drawing/2014/main" val="2025957154"/>
                  </a:ext>
                </a:extLst>
              </a:tr>
              <a:tr h="362778">
                <a:tc>
                  <a:txBody>
                    <a:bodyPr/>
                    <a:lstStyle/>
                    <a:p>
                      <a:r>
                        <a:rPr lang="en-US" sz="1200">
                          <a:latin typeface="Times New Roman" panose="02020603050405020304" pitchFamily="18" charset="0"/>
                          <a:cs typeface="Times New Roman" panose="02020603050405020304" pitchFamily="18" charset="0"/>
                        </a:rPr>
                        <a:t>🚗 Parking Availability</a:t>
                      </a:r>
                    </a:p>
                  </a:txBody>
                  <a:tcPr anchor="ctr"/>
                </a:tc>
                <a:tc>
                  <a:txBody>
                    <a:bodyPr/>
                    <a:lstStyle/>
                    <a:p>
                      <a:r>
                        <a:rPr lang="en-US" sz="1200">
                          <a:latin typeface="Times New Roman" panose="02020603050405020304" pitchFamily="18" charset="0"/>
                          <a:cs typeface="Times New Roman" panose="02020603050405020304" pitchFamily="18" charset="0"/>
                        </a:rPr>
                        <a:t>Convenient and accessible parking</a:t>
                      </a:r>
                    </a:p>
                  </a:txBody>
                  <a:tcPr anchor="ctr"/>
                </a:tc>
                <a:extLst>
                  <a:ext uri="{0D108BD9-81ED-4DB2-BD59-A6C34878D82A}">
                    <a16:rowId xmlns:a16="http://schemas.microsoft.com/office/drawing/2014/main" val="3673287406"/>
                  </a:ext>
                </a:extLst>
              </a:tr>
              <a:tr h="362778">
                <a:tc>
                  <a:txBody>
                    <a:bodyPr/>
                    <a:lstStyle/>
                    <a:p>
                      <a:r>
                        <a:rPr lang="en-US" sz="1200">
                          <a:latin typeface="Times New Roman" panose="02020603050405020304" pitchFamily="18" charset="0"/>
                          <a:cs typeface="Times New Roman" panose="02020603050405020304" pitchFamily="18" charset="0"/>
                        </a:rPr>
                        <a:t>😊 Consistent Customer Experience</a:t>
                      </a:r>
                    </a:p>
                  </a:txBody>
                  <a:tcPr anchor="ctr"/>
                </a:tc>
                <a:tc>
                  <a:txBody>
                    <a:bodyPr/>
                    <a:lstStyle/>
                    <a:p>
                      <a:r>
                        <a:rPr lang="en-US" sz="1200" dirty="0">
                          <a:latin typeface="Times New Roman" panose="02020603050405020304" pitchFamily="18" charset="0"/>
                          <a:cs typeface="Times New Roman" panose="02020603050405020304" pitchFamily="18" charset="0"/>
                        </a:rPr>
                        <a:t>Positive experiences across visits</a:t>
                      </a:r>
                    </a:p>
                  </a:txBody>
                  <a:tcPr anchor="ctr"/>
                </a:tc>
                <a:extLst>
                  <a:ext uri="{0D108BD9-81ED-4DB2-BD59-A6C34878D82A}">
                    <a16:rowId xmlns:a16="http://schemas.microsoft.com/office/drawing/2014/main" val="848519610"/>
                  </a:ext>
                </a:extLst>
              </a:tr>
              <a:tr h="447260">
                <a:tc>
                  <a:txBody>
                    <a:bodyPr/>
                    <a:lstStyle/>
                    <a:p>
                      <a:r>
                        <a:rPr lang="en-US" sz="1200" dirty="0">
                          <a:latin typeface="Times New Roman" panose="02020603050405020304" pitchFamily="18" charset="0"/>
                          <a:cs typeface="Times New Roman" panose="02020603050405020304" pitchFamily="18" charset="0"/>
                        </a:rPr>
                        <a:t>⭐ Brand Reputation</a:t>
                      </a:r>
                    </a:p>
                  </a:txBody>
                  <a:tcPr anchor="ctr"/>
                </a:tc>
                <a:tc>
                  <a:txBody>
                    <a:bodyPr/>
                    <a:lstStyle/>
                    <a:p>
                      <a:r>
                        <a:rPr lang="en-US" sz="1200" dirty="0">
                          <a:latin typeface="Times New Roman" panose="02020603050405020304" pitchFamily="18" charset="0"/>
                          <a:cs typeface="Times New Roman" panose="02020603050405020304" pitchFamily="18" charset="0"/>
                        </a:rPr>
                        <a:t>Customers frequently expressed trust, familiarity, and confidence in the brand</a:t>
                      </a:r>
                    </a:p>
                  </a:txBody>
                  <a:tcPr anchor="ctr"/>
                </a:tc>
                <a:extLst>
                  <a:ext uri="{0D108BD9-81ED-4DB2-BD59-A6C34878D82A}">
                    <a16:rowId xmlns:a16="http://schemas.microsoft.com/office/drawing/2014/main" val="3844830446"/>
                  </a:ext>
                </a:extLst>
              </a:tr>
            </a:tbl>
          </a:graphicData>
        </a:graphic>
      </p:graphicFrame>
    </p:spTree>
    <p:extLst>
      <p:ext uri="{BB962C8B-B14F-4D97-AF65-F5344CB8AC3E}">
        <p14:creationId xmlns:p14="http://schemas.microsoft.com/office/powerpoint/2010/main" val="3408614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44266-E36D-4E32-A137-F377062A189E}"/>
              </a:ext>
            </a:extLst>
          </p:cNvPr>
          <p:cNvSpPr>
            <a:spLocks noGrp="1"/>
          </p:cNvSpPr>
          <p:nvPr>
            <p:ph type="title"/>
          </p:nvPr>
        </p:nvSpPr>
        <p:spPr>
          <a:xfrm>
            <a:off x="838200" y="56871"/>
            <a:ext cx="10515600" cy="1325563"/>
          </a:xfrm>
        </p:spPr>
        <p:txBody>
          <a:bodyPr>
            <a:normAutofit/>
          </a:bodyPr>
          <a:lstStyle/>
          <a:p>
            <a:pPr algn="ctr"/>
            <a:r>
              <a:rPr lang="en-US" sz="3200" dirty="0">
                <a:latin typeface="Times New Roman" panose="02020603050405020304" pitchFamily="18" charset="0"/>
                <a:cs typeface="Times New Roman" panose="02020603050405020304" pitchFamily="18" charset="0"/>
              </a:rPr>
              <a:t>Key Customer Pain Points and Improvement Opportunities</a:t>
            </a:r>
            <a:br>
              <a:rPr lang="en-US" dirty="0"/>
            </a:br>
            <a:r>
              <a:rPr lang="en-US" sz="1600" i="1" dirty="0">
                <a:latin typeface="Times New Roman" panose="02020603050405020304" pitchFamily="18" charset="0"/>
                <a:cs typeface="Times New Roman" panose="02020603050405020304" pitchFamily="18" charset="0"/>
              </a:rPr>
              <a:t>Customer reviews also highlighted recurring issues that negatively affected customer experiences and satisfaction levels.</a:t>
            </a:r>
          </a:p>
        </p:txBody>
      </p:sp>
      <p:graphicFrame>
        <p:nvGraphicFramePr>
          <p:cNvPr id="4" name="Content Placeholder 3">
            <a:extLst>
              <a:ext uri="{FF2B5EF4-FFF2-40B4-BE49-F238E27FC236}">
                <a16:creationId xmlns:a16="http://schemas.microsoft.com/office/drawing/2014/main" id="{F7BAE2A2-8C29-47A4-98F5-AB1607E4506F}"/>
              </a:ext>
            </a:extLst>
          </p:cNvPr>
          <p:cNvGraphicFramePr>
            <a:graphicFrameLocks noGrp="1"/>
          </p:cNvGraphicFramePr>
          <p:nvPr>
            <p:ph idx="1"/>
            <p:extLst>
              <p:ext uri="{D42A27DB-BD31-4B8C-83A1-F6EECF244321}">
                <p14:modId xmlns:p14="http://schemas.microsoft.com/office/powerpoint/2010/main" val="701479305"/>
              </p:ext>
            </p:extLst>
          </p:nvPr>
        </p:nvGraphicFramePr>
        <p:xfrm>
          <a:off x="744771" y="1382434"/>
          <a:ext cx="4208894" cy="5032374"/>
        </p:xfrm>
        <a:graphic>
          <a:graphicData uri="http://schemas.openxmlformats.org/drawingml/2006/table">
            <a:tbl>
              <a:tblPr firstRow="1" bandRow="1">
                <a:tableStyleId>{91EBBBCC-DAD2-459C-BE2E-F6DE35CF9A28}</a:tableStyleId>
              </a:tblPr>
              <a:tblGrid>
                <a:gridCol w="2104447">
                  <a:extLst>
                    <a:ext uri="{9D8B030D-6E8A-4147-A177-3AD203B41FA5}">
                      <a16:colId xmlns:a16="http://schemas.microsoft.com/office/drawing/2014/main" val="1479632590"/>
                    </a:ext>
                  </a:extLst>
                </a:gridCol>
                <a:gridCol w="2104447">
                  <a:extLst>
                    <a:ext uri="{9D8B030D-6E8A-4147-A177-3AD203B41FA5}">
                      <a16:colId xmlns:a16="http://schemas.microsoft.com/office/drawing/2014/main" val="3750889648"/>
                    </a:ext>
                  </a:extLst>
                </a:gridCol>
              </a:tblGrid>
              <a:tr h="690718">
                <a:tc>
                  <a:txBody>
                    <a:bodyPr/>
                    <a:lstStyle/>
                    <a:p>
                      <a:r>
                        <a:rPr lang="en-US" dirty="0"/>
                        <a:t>Customer Concerns</a:t>
                      </a:r>
                    </a:p>
                  </a:txBody>
                  <a:tcPr anchor="ctr"/>
                </a:tc>
                <a:tc>
                  <a:txBody>
                    <a:bodyPr/>
                    <a:lstStyle/>
                    <a:p>
                      <a:r>
                        <a:rPr lang="en-US" dirty="0"/>
                        <a:t>Customer Feedback</a:t>
                      </a:r>
                    </a:p>
                  </a:txBody>
                  <a:tcPr anchor="ctr"/>
                </a:tc>
                <a:extLst>
                  <a:ext uri="{0D108BD9-81ED-4DB2-BD59-A6C34878D82A}">
                    <a16:rowId xmlns:a16="http://schemas.microsoft.com/office/drawing/2014/main" val="1880084125"/>
                  </a:ext>
                </a:extLst>
              </a:tr>
              <a:tr h="690718">
                <a:tc>
                  <a:txBody>
                    <a:bodyPr/>
                    <a:lstStyle/>
                    <a:p>
                      <a:r>
                        <a:rPr lang="en-US"/>
                        <a:t>⏱ Waiting Time</a:t>
                      </a:r>
                    </a:p>
                  </a:txBody>
                  <a:tcPr anchor="ctr"/>
                </a:tc>
                <a:tc>
                  <a:txBody>
                    <a:bodyPr/>
                    <a:lstStyle/>
                    <a:p>
                      <a:r>
                        <a:rPr lang="en-US"/>
                        <a:t>Long delays during peak periods</a:t>
                      </a:r>
                    </a:p>
                  </a:txBody>
                  <a:tcPr anchor="ctr"/>
                </a:tc>
                <a:extLst>
                  <a:ext uri="{0D108BD9-81ED-4DB2-BD59-A6C34878D82A}">
                    <a16:rowId xmlns:a16="http://schemas.microsoft.com/office/drawing/2014/main" val="4052805622"/>
                  </a:ext>
                </a:extLst>
              </a:tr>
              <a:tr h="986740">
                <a:tc>
                  <a:txBody>
                    <a:bodyPr/>
                    <a:lstStyle/>
                    <a:p>
                      <a:r>
                        <a:rPr lang="en-US"/>
                        <a:t>🐌 Slow Service</a:t>
                      </a:r>
                    </a:p>
                  </a:txBody>
                  <a:tcPr anchor="ctr"/>
                </a:tc>
                <a:tc>
                  <a:txBody>
                    <a:bodyPr/>
                    <a:lstStyle/>
                    <a:p>
                      <a:r>
                        <a:rPr lang="en-US"/>
                        <a:t>Delayed order processing and delivery</a:t>
                      </a:r>
                    </a:p>
                  </a:txBody>
                  <a:tcPr anchor="ctr"/>
                </a:tc>
                <a:extLst>
                  <a:ext uri="{0D108BD9-81ED-4DB2-BD59-A6C34878D82A}">
                    <a16:rowId xmlns:a16="http://schemas.microsoft.com/office/drawing/2014/main" val="3270220696"/>
                  </a:ext>
                </a:extLst>
              </a:tr>
              <a:tr h="986740">
                <a:tc>
                  <a:txBody>
                    <a:bodyPr/>
                    <a:lstStyle/>
                    <a:p>
                      <a:r>
                        <a:rPr lang="en-US"/>
                        <a:t>🍗 Product Availability</a:t>
                      </a:r>
                    </a:p>
                  </a:txBody>
                  <a:tcPr anchor="ctr"/>
                </a:tc>
                <a:tc>
                  <a:txBody>
                    <a:bodyPr/>
                    <a:lstStyle/>
                    <a:p>
                      <a:r>
                        <a:rPr lang="en-US"/>
                        <a:t>Frequent stock-outs of grilled chicken</a:t>
                      </a:r>
                    </a:p>
                  </a:txBody>
                  <a:tcPr anchor="ctr"/>
                </a:tc>
                <a:extLst>
                  <a:ext uri="{0D108BD9-81ED-4DB2-BD59-A6C34878D82A}">
                    <a16:rowId xmlns:a16="http://schemas.microsoft.com/office/drawing/2014/main" val="1962189763"/>
                  </a:ext>
                </a:extLst>
              </a:tr>
              <a:tr h="690718">
                <a:tc>
                  <a:txBody>
                    <a:bodyPr/>
                    <a:lstStyle/>
                    <a:p>
                      <a:r>
                        <a:rPr lang="en-US"/>
                        <a:t>🍽 Food Consistency</a:t>
                      </a:r>
                    </a:p>
                  </a:txBody>
                  <a:tcPr anchor="ctr"/>
                </a:tc>
                <a:tc>
                  <a:txBody>
                    <a:bodyPr/>
                    <a:lstStyle/>
                    <a:p>
                      <a:r>
                        <a:rPr lang="en-US"/>
                        <a:t>Variations in taste and food quality</a:t>
                      </a:r>
                    </a:p>
                  </a:txBody>
                  <a:tcPr anchor="ctr"/>
                </a:tc>
                <a:extLst>
                  <a:ext uri="{0D108BD9-81ED-4DB2-BD59-A6C34878D82A}">
                    <a16:rowId xmlns:a16="http://schemas.microsoft.com/office/drawing/2014/main" val="2106997580"/>
                  </a:ext>
                </a:extLst>
              </a:tr>
              <a:tr h="986740">
                <a:tc>
                  <a:txBody>
                    <a:bodyPr/>
                    <a:lstStyle/>
                    <a:p>
                      <a:r>
                        <a:rPr lang="en-US"/>
                        <a:t>🧂 Excessive Seasoning</a:t>
                      </a:r>
                    </a:p>
                  </a:txBody>
                  <a:tcPr anchor="ctr"/>
                </a:tc>
                <a:tc>
                  <a:txBody>
                    <a:bodyPr/>
                    <a:lstStyle/>
                    <a:p>
                      <a:r>
                        <a:rPr lang="en-US" dirty="0"/>
                        <a:t>Complaints regarding overly salty meals</a:t>
                      </a:r>
                    </a:p>
                  </a:txBody>
                  <a:tcPr anchor="ctr"/>
                </a:tc>
                <a:extLst>
                  <a:ext uri="{0D108BD9-81ED-4DB2-BD59-A6C34878D82A}">
                    <a16:rowId xmlns:a16="http://schemas.microsoft.com/office/drawing/2014/main" val="2331808173"/>
                  </a:ext>
                </a:extLst>
              </a:tr>
            </a:tbl>
          </a:graphicData>
        </a:graphic>
      </p:graphicFrame>
      <p:sp>
        <p:nvSpPr>
          <p:cNvPr id="5" name="Rectangle 4">
            <a:extLst>
              <a:ext uri="{FF2B5EF4-FFF2-40B4-BE49-F238E27FC236}">
                <a16:creationId xmlns:a16="http://schemas.microsoft.com/office/drawing/2014/main" id="{D2615478-51C4-4B1A-A8DE-357460686337}"/>
              </a:ext>
            </a:extLst>
          </p:cNvPr>
          <p:cNvSpPr/>
          <p:nvPr/>
        </p:nvSpPr>
        <p:spPr>
          <a:xfrm>
            <a:off x="6920286" y="1721669"/>
            <a:ext cx="4858247" cy="16459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u="sng" dirty="0">
                <a:latin typeface="Times New Roman" panose="02020603050405020304" pitchFamily="18" charset="0"/>
                <a:cs typeface="Times New Roman" panose="02020603050405020304" pitchFamily="18" charset="0"/>
              </a:rPr>
              <a:t>Key Insight</a:t>
            </a:r>
          </a:p>
          <a:p>
            <a:r>
              <a:rPr lang="en-US" sz="1400" dirty="0"/>
              <a:t>Service-related issues emerged as the most frequently cited source of customer dissatisfaction. Long waiting times, slow service, and product availability challenges were recurring themes across negative customer reviews.</a:t>
            </a:r>
            <a:endParaRPr lang="en-US" dirty="0">
              <a:latin typeface="Times New Roman" panose="0202060305040502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C80E893C-B056-456D-A790-C6C9AF801D7A}"/>
              </a:ext>
            </a:extLst>
          </p:cNvPr>
          <p:cNvSpPr/>
          <p:nvPr/>
        </p:nvSpPr>
        <p:spPr>
          <a:xfrm>
            <a:off x="6920286" y="3572986"/>
            <a:ext cx="4953664" cy="15743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u="sng" dirty="0">
                <a:latin typeface="Times New Roman" panose="02020603050405020304" pitchFamily="18" charset="0"/>
                <a:cs typeface="Times New Roman" panose="02020603050405020304" pitchFamily="18" charset="0"/>
              </a:rPr>
              <a:t>Representative Customer</a:t>
            </a:r>
          </a:p>
          <a:p>
            <a:r>
              <a:rPr lang="en-US" sz="1400" dirty="0">
                <a:latin typeface="Times New Roman" panose="02020603050405020304" pitchFamily="18" charset="0"/>
                <a:cs typeface="Times New Roman" panose="02020603050405020304" pitchFamily="18" charset="0"/>
              </a:rPr>
              <a:t>• “I'm 5th in the queue but have been here for more than 20 minutes.”</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“Very slow service.”</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“They run out of grilled chicken options on most busy days.”</a:t>
            </a:r>
          </a:p>
        </p:txBody>
      </p:sp>
      <p:sp>
        <p:nvSpPr>
          <p:cNvPr id="8" name="Rectangle: Rounded Corners 7">
            <a:extLst>
              <a:ext uri="{FF2B5EF4-FFF2-40B4-BE49-F238E27FC236}">
                <a16:creationId xmlns:a16="http://schemas.microsoft.com/office/drawing/2014/main" id="{6F1C124F-2436-4058-B516-4FB3E9C439D1}"/>
              </a:ext>
            </a:extLst>
          </p:cNvPr>
          <p:cNvSpPr/>
          <p:nvPr/>
        </p:nvSpPr>
        <p:spPr>
          <a:xfrm>
            <a:off x="6985882" y="5352743"/>
            <a:ext cx="4953663" cy="13764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u="sng" dirty="0">
                <a:latin typeface="Times New Roman" panose="02020603050405020304" pitchFamily="18" charset="0"/>
                <a:cs typeface="Times New Roman" panose="02020603050405020304" pitchFamily="18" charset="0"/>
              </a:rPr>
              <a:t>Business Implication</a:t>
            </a:r>
          </a:p>
          <a:p>
            <a:r>
              <a:rPr lang="en-US" sz="1400" dirty="0">
                <a:latin typeface="Times New Roman" panose="02020603050405020304" pitchFamily="18" charset="0"/>
                <a:cs typeface="Times New Roman" panose="02020603050405020304" pitchFamily="18" charset="0"/>
              </a:rPr>
              <a:t>Addressing service delays, improving product availability, and enhancing operational consistency may significantly improve customer satisfaction and reduce negative customer sentiment.</a:t>
            </a:r>
          </a:p>
        </p:txBody>
      </p:sp>
    </p:spTree>
    <p:extLst>
      <p:ext uri="{BB962C8B-B14F-4D97-AF65-F5344CB8AC3E}">
        <p14:creationId xmlns:p14="http://schemas.microsoft.com/office/powerpoint/2010/main" val="1212329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AED5B-86F4-4322-9551-BBF5BBB9D814}"/>
              </a:ext>
            </a:extLst>
          </p:cNvPr>
          <p:cNvSpPr>
            <a:spLocks noGrp="1"/>
          </p:cNvSpPr>
          <p:nvPr>
            <p:ph type="title"/>
          </p:nvPr>
        </p:nvSpPr>
        <p:spPr>
          <a:xfrm>
            <a:off x="838200" y="365125"/>
            <a:ext cx="10683240" cy="1325563"/>
          </a:xfrm>
        </p:spPr>
        <p:txBody>
          <a:bodyPr>
            <a:normAutofit/>
          </a:bodyPr>
          <a:lstStyle/>
          <a:p>
            <a:pPr algn="ctr"/>
            <a:r>
              <a:rPr lang="en-US" sz="3200" dirty="0">
                <a:latin typeface="Times New Roman" panose="02020603050405020304" pitchFamily="18" charset="0"/>
                <a:cs typeface="Times New Roman" panose="02020603050405020304" pitchFamily="18" charset="0"/>
              </a:rPr>
              <a:t>Management Recommendations</a:t>
            </a:r>
            <a:br>
              <a:rPr lang="en-US" dirty="0">
                <a:latin typeface="Times New Roman" panose="02020603050405020304" pitchFamily="18" charset="0"/>
                <a:cs typeface="Times New Roman" panose="02020603050405020304" pitchFamily="18" charset="0"/>
              </a:rPr>
            </a:br>
            <a:r>
              <a:rPr lang="en-US" sz="1400" i="1" dirty="0">
                <a:latin typeface="Times New Roman" panose="02020603050405020304" pitchFamily="18" charset="0"/>
                <a:cs typeface="Times New Roman" panose="02020603050405020304" pitchFamily="18" charset="0"/>
              </a:rPr>
              <a:t>Based on the findings of this pilot study, the following recommendations may help enhance customer satisfaction and operational performance</a:t>
            </a:r>
            <a:endParaRPr lang="en-US" sz="1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DEA58C9-D37C-4855-8D69-D534FB449783}"/>
              </a:ext>
            </a:extLst>
          </p:cNvPr>
          <p:cNvSpPr>
            <a:spLocks noGrp="1"/>
          </p:cNvSpPr>
          <p:nvPr>
            <p:ph idx="1"/>
          </p:nvPr>
        </p:nvSpPr>
        <p:spPr>
          <a:xfrm>
            <a:off x="838200" y="1590261"/>
            <a:ext cx="11096708" cy="4586702"/>
          </a:xfrm>
        </p:spPr>
        <p:txBody>
          <a:bodyPr>
            <a:normAutofit/>
          </a:bodyPr>
          <a:lstStyle/>
          <a:p>
            <a:pPr marL="0" indent="0">
              <a:buNone/>
            </a:pPr>
            <a:endParaRPr lang="en-US" sz="1200" dirty="0">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1B314CE9-8614-41DA-AB38-1ECEDB5959BE}"/>
              </a:ext>
            </a:extLst>
          </p:cNvPr>
          <p:cNvSpPr/>
          <p:nvPr/>
        </p:nvSpPr>
        <p:spPr>
          <a:xfrm>
            <a:off x="838200" y="1590261"/>
            <a:ext cx="3829216" cy="211504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u="sng" dirty="0">
                <a:latin typeface="Times New Roman" panose="02020603050405020304" pitchFamily="18" charset="0"/>
                <a:cs typeface="Times New Roman" panose="02020603050405020304" pitchFamily="18" charset="0"/>
              </a:rPr>
              <a:t>Recommendation 1</a:t>
            </a:r>
          </a:p>
          <a:p>
            <a:pPr algn="ctr"/>
            <a:r>
              <a:rPr lang="en-US" b="1" dirty="0">
                <a:latin typeface="Times New Roman" panose="02020603050405020304" pitchFamily="18" charset="0"/>
                <a:cs typeface="Times New Roman" panose="02020603050405020304" pitchFamily="18" charset="0"/>
              </a:rPr>
              <a:t>Improve Service Speed During Peak Hours</a:t>
            </a:r>
          </a:p>
          <a:p>
            <a:pPr algn="ctr"/>
            <a:endParaRPr lang="en-US" sz="1400" u="sng"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Review staffing levels during high-traffic periods. </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Reduce customer waiting times. </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Improve order processing efficiency.</a:t>
            </a:r>
          </a:p>
          <a:p>
            <a:pPr algn="ctr"/>
            <a:endParaRPr lang="en-US" sz="1400" dirty="0">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5ACCC067-D0E3-4B05-A4C4-BCDFDF683FEE}"/>
              </a:ext>
            </a:extLst>
          </p:cNvPr>
          <p:cNvSpPr/>
          <p:nvPr/>
        </p:nvSpPr>
        <p:spPr>
          <a:xfrm>
            <a:off x="4807225" y="1590260"/>
            <a:ext cx="3617844" cy="211504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u="sng" dirty="0">
                <a:latin typeface="Times New Roman" panose="02020603050405020304" pitchFamily="18" charset="0"/>
                <a:cs typeface="Times New Roman" panose="02020603050405020304" pitchFamily="18" charset="0"/>
              </a:rPr>
              <a:t>Recommendation 2</a:t>
            </a:r>
          </a:p>
          <a:p>
            <a:pPr algn="ctr"/>
            <a:r>
              <a:rPr lang="en-US" b="1" dirty="0">
                <a:latin typeface="Times New Roman" panose="02020603050405020304" pitchFamily="18" charset="0"/>
                <a:cs typeface="Times New Roman" panose="02020603050405020304" pitchFamily="18" charset="0"/>
              </a:rPr>
              <a:t>Strengthen Inventory Management</a:t>
            </a:r>
          </a:p>
          <a:p>
            <a:pPr algn="ctr"/>
            <a:endParaRPr lang="en-US" sz="1600" b="1" u="sng"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Improve forecasting for high-demand menu items.</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Reduce stock-outs of grilled chicken and other popular products.</a:t>
            </a:r>
          </a:p>
        </p:txBody>
      </p:sp>
      <p:sp>
        <p:nvSpPr>
          <p:cNvPr id="6" name="Rectangle: Rounded Corners 5">
            <a:extLst>
              <a:ext uri="{FF2B5EF4-FFF2-40B4-BE49-F238E27FC236}">
                <a16:creationId xmlns:a16="http://schemas.microsoft.com/office/drawing/2014/main" id="{1AE1C1FD-9DC3-4D77-AE40-FAE2BA0B1E5D}"/>
              </a:ext>
            </a:extLst>
          </p:cNvPr>
          <p:cNvSpPr/>
          <p:nvPr/>
        </p:nvSpPr>
        <p:spPr>
          <a:xfrm>
            <a:off x="8500275" y="1579206"/>
            <a:ext cx="3359426" cy="21707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u="sng" dirty="0">
                <a:latin typeface="Times New Roman" panose="02020603050405020304" pitchFamily="18" charset="0"/>
                <a:cs typeface="Times New Roman" panose="02020603050405020304" pitchFamily="18" charset="0"/>
              </a:rPr>
              <a:t>Recommendation 3</a:t>
            </a:r>
          </a:p>
          <a:p>
            <a:pPr algn="ctr"/>
            <a:r>
              <a:rPr lang="en-US" b="1" dirty="0">
                <a:latin typeface="Times New Roman" panose="02020603050405020304" pitchFamily="18" charset="0"/>
                <a:cs typeface="Times New Roman" panose="02020603050405020304" pitchFamily="18" charset="0"/>
              </a:rPr>
              <a:t>Standardize Food Preparation Processes</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Reinforce operational standards across branches. </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Ensure consistency in food quality and taste.</a:t>
            </a:r>
          </a:p>
        </p:txBody>
      </p:sp>
      <p:sp>
        <p:nvSpPr>
          <p:cNvPr id="7" name="Rectangle: Rounded Corners 6">
            <a:extLst>
              <a:ext uri="{FF2B5EF4-FFF2-40B4-BE49-F238E27FC236}">
                <a16:creationId xmlns:a16="http://schemas.microsoft.com/office/drawing/2014/main" id="{C3826679-2C58-4808-B178-51628793F21A}"/>
              </a:ext>
            </a:extLst>
          </p:cNvPr>
          <p:cNvSpPr/>
          <p:nvPr/>
        </p:nvSpPr>
        <p:spPr>
          <a:xfrm>
            <a:off x="881931" y="4134679"/>
            <a:ext cx="3980292" cy="21976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u="sng" dirty="0">
                <a:latin typeface="Times New Roman" panose="02020603050405020304" pitchFamily="18" charset="0"/>
                <a:cs typeface="Times New Roman" panose="02020603050405020304" pitchFamily="18" charset="0"/>
              </a:rPr>
              <a:t>Recommendation 4</a:t>
            </a:r>
          </a:p>
          <a:p>
            <a:pPr algn="ctr"/>
            <a:r>
              <a:rPr lang="en-US" b="1" dirty="0">
                <a:latin typeface="Times New Roman" panose="02020603050405020304" pitchFamily="18" charset="0"/>
                <a:cs typeface="Times New Roman" panose="02020603050405020304" pitchFamily="18" charset="0"/>
              </a:rPr>
              <a:t>Continue Investing in Customer Experience</a:t>
            </a:r>
          </a:p>
          <a:p>
            <a:pPr algn="ctr"/>
            <a:endParaRPr lang="en-US" sz="1400" u="sng"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Maintain the family-friendly atmosphere. </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Preserve cleanliness and dining comfort. </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Continue leveraging customer service strengths.</a:t>
            </a:r>
          </a:p>
          <a:p>
            <a:pPr algn="ctr"/>
            <a:endParaRPr lang="en-US" sz="1400" dirty="0">
              <a:latin typeface="Times New Roman" panose="02020603050405020304" pitchFamily="18" charset="0"/>
              <a:cs typeface="Times New Roman" panose="02020603050405020304" pitchFamily="18" charset="0"/>
            </a:endParaRPr>
          </a:p>
        </p:txBody>
      </p:sp>
      <p:sp>
        <p:nvSpPr>
          <p:cNvPr id="8" name="Rectangle: Rounded Corners 7">
            <a:extLst>
              <a:ext uri="{FF2B5EF4-FFF2-40B4-BE49-F238E27FC236}">
                <a16:creationId xmlns:a16="http://schemas.microsoft.com/office/drawing/2014/main" id="{04657D7F-CEB5-43E8-86E3-68FCA73DF5A8}"/>
              </a:ext>
            </a:extLst>
          </p:cNvPr>
          <p:cNvSpPr/>
          <p:nvPr/>
        </p:nvSpPr>
        <p:spPr>
          <a:xfrm>
            <a:off x="4917881" y="4061916"/>
            <a:ext cx="3593990" cy="227037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u="sng" dirty="0">
                <a:latin typeface="Times New Roman" panose="02020603050405020304" pitchFamily="18" charset="0"/>
                <a:cs typeface="Times New Roman" panose="02020603050405020304" pitchFamily="18" charset="0"/>
              </a:rPr>
              <a:t>Recommendation 5</a:t>
            </a:r>
          </a:p>
          <a:p>
            <a:pPr algn="ctr"/>
            <a:r>
              <a:rPr lang="en-US" b="1" dirty="0">
                <a:latin typeface="Times New Roman" panose="02020603050405020304" pitchFamily="18" charset="0"/>
                <a:cs typeface="Times New Roman" panose="02020603050405020304" pitchFamily="18" charset="0"/>
              </a:rPr>
              <a:t>Implement Ongoing Customer Review Monitoring</a:t>
            </a:r>
          </a:p>
          <a:p>
            <a:pPr algn="ctr"/>
            <a:endParaRPr lang="en-US" sz="1400" u="sng"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Track customer feedback regularly. </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Identify emerging service issues early. </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Support data-driven decision-making.</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Consider expanding review analytics across all branches.</a:t>
            </a:r>
          </a:p>
          <a:p>
            <a:pPr algn="ctr"/>
            <a:endParaRPr lang="en-US" sz="1400" dirty="0">
              <a:latin typeface="Times New Roman" panose="02020603050405020304" pitchFamily="18" charset="0"/>
              <a:cs typeface="Times New Roman" panose="02020603050405020304" pitchFamily="18" charset="0"/>
            </a:endParaRPr>
          </a:p>
        </p:txBody>
      </p:sp>
      <p:sp>
        <p:nvSpPr>
          <p:cNvPr id="9" name="Speech Bubble: Rectangle with Corners Rounded 8">
            <a:extLst>
              <a:ext uri="{FF2B5EF4-FFF2-40B4-BE49-F238E27FC236}">
                <a16:creationId xmlns:a16="http://schemas.microsoft.com/office/drawing/2014/main" id="{17F87E9A-3FFE-4D57-AE5D-B17203B98632}"/>
              </a:ext>
            </a:extLst>
          </p:cNvPr>
          <p:cNvSpPr/>
          <p:nvPr/>
        </p:nvSpPr>
        <p:spPr>
          <a:xfrm>
            <a:off x="8680837" y="4004403"/>
            <a:ext cx="3148716" cy="2327887"/>
          </a:xfrm>
          <a:prstGeom prst="wedgeRound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u="sng" dirty="0">
                <a:latin typeface="Times New Roman" panose="02020603050405020304" pitchFamily="18" charset="0"/>
                <a:cs typeface="Times New Roman" panose="02020603050405020304" pitchFamily="18" charset="0"/>
              </a:rPr>
              <a:t>Business Value</a:t>
            </a:r>
          </a:p>
          <a:p>
            <a:pPr algn="ctr"/>
            <a:endParaRPr lang="en-US" b="1" u="sng"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Implementing these recommendations may improve customer satisfaction, strengthen brand perception, enhance operational efficiency, and support long-term customer loyalty across branches.</a:t>
            </a:r>
          </a:p>
        </p:txBody>
      </p:sp>
    </p:spTree>
    <p:extLst>
      <p:ext uri="{BB962C8B-B14F-4D97-AF65-F5344CB8AC3E}">
        <p14:creationId xmlns:p14="http://schemas.microsoft.com/office/powerpoint/2010/main" val="670068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5FCE2-DB75-4569-A904-6E6FE11B3EC8}"/>
              </a:ext>
            </a:extLst>
          </p:cNvPr>
          <p:cNvSpPr>
            <a:spLocks noGrp="1"/>
          </p:cNvSpPr>
          <p:nvPr>
            <p:ph type="title"/>
          </p:nvPr>
        </p:nvSpPr>
        <p:spPr/>
        <p:txBody>
          <a:bodyPr>
            <a:normAutofit/>
          </a:bodyPr>
          <a:lstStyle/>
          <a:p>
            <a:pPr algn="ctr"/>
            <a:r>
              <a:rPr lang="en-US" sz="3600"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FA88AF4B-3F9E-4487-9F4C-C771B4EB7AA8}"/>
              </a:ext>
            </a:extLst>
          </p:cNvPr>
          <p:cNvSpPr>
            <a:spLocks noGrp="1"/>
          </p:cNvSpPr>
          <p:nvPr>
            <p:ph idx="1"/>
          </p:nvPr>
        </p:nvSpPr>
        <p:spPr/>
        <p:txBody>
          <a:bodyPr>
            <a:normAutofit/>
          </a:bodyPr>
          <a:lstStyle/>
          <a:p>
            <a:r>
              <a:rPr lang="en-US" sz="1500" dirty="0">
                <a:latin typeface="Times New Roman" panose="02020603050405020304" pitchFamily="18" charset="0"/>
                <a:cs typeface="Times New Roman" panose="02020603050405020304" pitchFamily="18" charset="0"/>
              </a:rPr>
              <a:t>This pilot study analyzed 134 customer reviews from the </a:t>
            </a:r>
            <a:r>
              <a:rPr lang="en-US" sz="1500" dirty="0" err="1">
                <a:latin typeface="Times New Roman" panose="02020603050405020304" pitchFamily="18" charset="0"/>
                <a:cs typeface="Times New Roman" panose="02020603050405020304" pitchFamily="18" charset="0"/>
              </a:rPr>
              <a:t>Haatso</a:t>
            </a:r>
            <a:r>
              <a:rPr lang="en-US" sz="1500" dirty="0">
                <a:latin typeface="Times New Roman" panose="02020603050405020304" pitchFamily="18" charset="0"/>
                <a:cs typeface="Times New Roman" panose="02020603050405020304" pitchFamily="18" charset="0"/>
              </a:rPr>
              <a:t> and </a:t>
            </a:r>
            <a:r>
              <a:rPr lang="en-US" sz="1500" dirty="0" err="1">
                <a:latin typeface="Times New Roman" panose="02020603050405020304" pitchFamily="18" charset="0"/>
                <a:cs typeface="Times New Roman" panose="02020603050405020304" pitchFamily="18" charset="0"/>
              </a:rPr>
              <a:t>Tema</a:t>
            </a:r>
            <a:r>
              <a:rPr lang="en-US" sz="1500" dirty="0">
                <a:latin typeface="Times New Roman" panose="02020603050405020304" pitchFamily="18" charset="0"/>
                <a:cs typeface="Times New Roman" panose="02020603050405020304" pitchFamily="18" charset="0"/>
              </a:rPr>
              <a:t> branches of Papaye Fast Foods to better understand customer perceptions and identify opportunities for improvement.</a:t>
            </a:r>
          </a:p>
          <a:p>
            <a:pPr marL="0" indent="0">
              <a:buNone/>
            </a:pPr>
            <a:endParaRPr lang="en-US" sz="1500" dirty="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rPr>
              <a:t>The findings indicate that customer sentiment toward Papaye Fast Foods is generally positive, with food quality, atmosphere, and brand reputation emerging as key strengths.</a:t>
            </a:r>
          </a:p>
          <a:p>
            <a:pPr marL="0" indent="0">
              <a:buNone/>
            </a:pPr>
            <a:endParaRPr lang="en-US" sz="1500" dirty="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rPr>
              <a:t>At the same time, service speed, product availability, and operational consistency were identified as areas where improvements may further enhance customer satisfaction.</a:t>
            </a:r>
          </a:p>
          <a:p>
            <a:pPr marL="0" indent="0">
              <a:buNone/>
            </a:pPr>
            <a:endParaRPr lang="en-US" sz="1500" dirty="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rPr>
              <a:t>Overall, the study demonstrates how customer feedback analytics can provide valuable insights to support customer experience management and continuous improvement initiatives.</a:t>
            </a:r>
          </a:p>
          <a:p>
            <a:pPr marL="0" indent="0">
              <a:buNone/>
            </a:pPr>
            <a:endParaRPr lang="en-US" dirty="0"/>
          </a:p>
        </p:txBody>
      </p:sp>
    </p:spTree>
    <p:extLst>
      <p:ext uri="{BB962C8B-B14F-4D97-AF65-F5344CB8AC3E}">
        <p14:creationId xmlns:p14="http://schemas.microsoft.com/office/powerpoint/2010/main" val="1835765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6B809-F461-44B2-905F-0F4E10D8F6C6}"/>
              </a:ext>
            </a:extLst>
          </p:cNvPr>
          <p:cNvSpPr>
            <a:spLocks noGrp="1"/>
          </p:cNvSpPr>
          <p:nvPr>
            <p:ph type="title"/>
          </p:nvPr>
        </p:nvSpPr>
        <p:spPr>
          <a:xfrm>
            <a:off x="838200" y="365125"/>
            <a:ext cx="10515600" cy="946840"/>
          </a:xfrm>
        </p:spPr>
        <p:txBody>
          <a:bodyPr>
            <a:normAutofit/>
          </a:bodyPr>
          <a:lstStyle/>
          <a:p>
            <a:pPr algn="ctr"/>
            <a:r>
              <a:rPr lang="en-US" sz="3600" dirty="0">
                <a:latin typeface="Times New Roman" panose="02020603050405020304" pitchFamily="18" charset="0"/>
                <a:cs typeface="Times New Roman" panose="02020603050405020304" pitchFamily="18" charset="0"/>
              </a:rPr>
              <a:t>Thank You</a:t>
            </a:r>
          </a:p>
        </p:txBody>
      </p:sp>
      <p:sp>
        <p:nvSpPr>
          <p:cNvPr id="3" name="Content Placeholder 2">
            <a:extLst>
              <a:ext uri="{FF2B5EF4-FFF2-40B4-BE49-F238E27FC236}">
                <a16:creationId xmlns:a16="http://schemas.microsoft.com/office/drawing/2014/main" id="{ED75626F-5E4B-47B0-8592-7FFAC6A0021C}"/>
              </a:ext>
            </a:extLst>
          </p:cNvPr>
          <p:cNvSpPr>
            <a:spLocks noGrp="1"/>
          </p:cNvSpPr>
          <p:nvPr>
            <p:ph idx="1"/>
          </p:nvPr>
        </p:nvSpPr>
        <p:spPr>
          <a:xfrm>
            <a:off x="838200" y="1825625"/>
            <a:ext cx="10515600" cy="2460128"/>
          </a:xfrm>
        </p:spPr>
        <p:txBody>
          <a:bodyPr>
            <a:normAutofit/>
          </a:bodyPr>
          <a:lstStyle/>
          <a:p>
            <a:pPr marL="0" indent="0" algn="ctr">
              <a:buNone/>
            </a:pPr>
            <a:r>
              <a:rPr lang="en-US" sz="1800" dirty="0">
                <a:latin typeface="Times New Roman" panose="02020603050405020304" pitchFamily="18" charset="0"/>
                <a:cs typeface="Times New Roman" panose="02020603050405020304" pitchFamily="18" charset="0"/>
              </a:rPr>
              <a:t>Thank you for taking the time to review this analysis.</a:t>
            </a:r>
          </a:p>
          <a:p>
            <a:pPr marL="0" indent="0" algn="ctr">
              <a:buNone/>
            </a:pPr>
            <a:endParaRPr lang="en-US" sz="1800" dirty="0">
              <a:latin typeface="Times New Roman" panose="02020603050405020304" pitchFamily="18" charset="0"/>
              <a:cs typeface="Times New Roman" panose="02020603050405020304" pitchFamily="18" charset="0"/>
            </a:endParaRPr>
          </a:p>
          <a:p>
            <a:pPr algn="ctr"/>
            <a:r>
              <a:rPr lang="en-US" sz="1800" dirty="0">
                <a:latin typeface="Times New Roman" panose="02020603050405020304" pitchFamily="18" charset="0"/>
                <a:cs typeface="Times New Roman" panose="02020603050405020304" pitchFamily="18" charset="0"/>
              </a:rPr>
              <a:t>Prepared by:</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Richard Adutwum</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MSc Marketing</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Business Analytics &amp; Customer Insights Professional</a:t>
            </a:r>
          </a:p>
        </p:txBody>
      </p:sp>
    </p:spTree>
    <p:extLst>
      <p:ext uri="{BB962C8B-B14F-4D97-AF65-F5344CB8AC3E}">
        <p14:creationId xmlns:p14="http://schemas.microsoft.com/office/powerpoint/2010/main" val="24387962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10003</TotalTime>
  <Words>1350</Words>
  <Application>Microsoft Office PowerPoint</Application>
  <PresentationFormat>Widescreen</PresentationFormat>
  <Paragraphs>182</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CUSTOMER EXPERIENCE &amp; SENTIMENT ANALYTICS STUDY  A Pilot Customer Intelligence Analysis of Papaye Fast Foods Customer Reviews  Branches Analyzed: Haatso Branch  Tema Branch </vt:lpstr>
      <vt:lpstr>EXECUTIVE SUMMARY</vt:lpstr>
      <vt:lpstr>PROJECT OBJECTIVES</vt:lpstr>
      <vt:lpstr>DATASET OVERVIEW</vt:lpstr>
      <vt:lpstr>ANALYTICAL APPROACH</vt:lpstr>
      <vt:lpstr>OVERALL CUSTOMER SENTIMENT</vt:lpstr>
      <vt:lpstr>BRANCH SENTIMENT COMPARISON</vt:lpstr>
      <vt:lpstr>BRANCH PERFORMANCE RATINGS</vt:lpstr>
      <vt:lpstr>KEY CUSTOMER SATISFACTION DRIVERS Customer reviews revealed several recurring themes that drive customer satisfaction and strengthen overall brand perception.</vt:lpstr>
      <vt:lpstr>Key Customer Pain Points and Improvement Opportunities Customer reviews also highlighted recurring issues that negatively affected customer experiences and satisfaction levels.</vt:lpstr>
      <vt:lpstr>Management Recommendations Based on the findings of this pilot study, the following recommendations may help enhance customer satisfaction and operational performance</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Review Sentiment Analysis  A Pilot Customer Experience Analytics Study of Papaye Fast Foods Branches Analyzed: Haatso Branch  Tema Branch</dc:title>
  <dc:creator>Richard</dc:creator>
  <cp:lastModifiedBy>Richard</cp:lastModifiedBy>
  <cp:revision>37</cp:revision>
  <dcterms:created xsi:type="dcterms:W3CDTF">2026-06-02T23:32:13Z</dcterms:created>
  <dcterms:modified xsi:type="dcterms:W3CDTF">2026-06-09T22:16:01Z</dcterms:modified>
</cp:coreProperties>
</file>